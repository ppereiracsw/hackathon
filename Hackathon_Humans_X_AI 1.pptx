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4" r:id="rId7"/>
    <p:sldId id="261" r:id="rId8"/>
    <p:sldId id="262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46A966C-2C10-43A8-8A68-6895A39AE40B}" v="7" dt="2026-10-29T17:49:43.66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2" d="100"/>
          <a:sy n="142" d="100"/>
        </p:scale>
        <p:origin x="92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érgio Patrão" userId="b5086df8-2eb0-4ab6-9222-fdf11b729b89" providerId="ADAL" clId="{1865BBE7-37F7-43C6-AD49-28213EF8CA13}"/>
    <pc:docChg chg="custSel addSld delSld modSld">
      <pc:chgData name="Sérgio Patrão" userId="b5086df8-2eb0-4ab6-9222-fdf11b729b89" providerId="ADAL" clId="{1865BBE7-37F7-43C6-AD49-28213EF8CA13}" dt="2026-10-29T17:50:41.096" v="133" actId="404"/>
      <pc:docMkLst>
        <pc:docMk/>
      </pc:docMkLst>
      <pc:sldChg chg="add del">
        <pc:chgData name="Sérgio Patrão" userId="b5086df8-2eb0-4ab6-9222-fdf11b729b89" providerId="ADAL" clId="{1865BBE7-37F7-43C6-AD49-28213EF8CA13}" dt="2026-10-29T17:46:21.535" v="5"/>
        <pc:sldMkLst>
          <pc:docMk/>
          <pc:sldMk cId="1756555976" sldId="263"/>
        </pc:sldMkLst>
      </pc:sldChg>
      <pc:sldChg chg="modSp add mod">
        <pc:chgData name="Sérgio Patrão" userId="b5086df8-2eb0-4ab6-9222-fdf11b729b89" providerId="ADAL" clId="{1865BBE7-37F7-43C6-AD49-28213EF8CA13}" dt="2026-10-29T17:50:41.096" v="133" actId="404"/>
        <pc:sldMkLst>
          <pc:docMk/>
          <pc:sldMk cId="1861676017" sldId="264"/>
        </pc:sldMkLst>
        <pc:spChg chg="mod">
          <ac:chgData name="Sérgio Patrão" userId="b5086df8-2eb0-4ab6-9222-fdf11b729b89" providerId="ADAL" clId="{1865BBE7-37F7-43C6-AD49-28213EF8CA13}" dt="2026-10-29T17:46:21.513" v="2" actId="27636"/>
          <ac:spMkLst>
            <pc:docMk/>
            <pc:sldMk cId="1861676017" sldId="264"/>
            <ac:spMk id="3" creationId="{00000000-0000-0000-0000-000000000000}"/>
          </ac:spMkLst>
        </pc:spChg>
        <pc:spChg chg="mod">
          <ac:chgData name="Sérgio Patrão" userId="b5086df8-2eb0-4ab6-9222-fdf11b729b89" providerId="ADAL" clId="{1865BBE7-37F7-43C6-AD49-28213EF8CA13}" dt="2026-10-29T17:48:39.809" v="71" actId="20577"/>
          <ac:spMkLst>
            <pc:docMk/>
            <pc:sldMk cId="1861676017" sldId="264"/>
            <ac:spMk id="4" creationId="{00000000-0000-0000-0000-000000000000}"/>
          </ac:spMkLst>
        </pc:spChg>
        <pc:spChg chg="mod">
          <ac:chgData name="Sérgio Patrão" userId="b5086df8-2eb0-4ab6-9222-fdf11b729b89" providerId="ADAL" clId="{1865BBE7-37F7-43C6-AD49-28213EF8CA13}" dt="2026-10-29T17:47:37.702" v="32"/>
          <ac:spMkLst>
            <pc:docMk/>
            <pc:sldMk cId="1861676017" sldId="264"/>
            <ac:spMk id="5" creationId="{00000000-0000-0000-0000-000000000000}"/>
          </ac:spMkLst>
        </pc:spChg>
        <pc:spChg chg="mod">
          <ac:chgData name="Sérgio Patrão" userId="b5086df8-2eb0-4ab6-9222-fdf11b729b89" providerId="ADAL" clId="{1865BBE7-37F7-43C6-AD49-28213EF8CA13}" dt="2026-10-29T17:46:32.639" v="21"/>
          <ac:spMkLst>
            <pc:docMk/>
            <pc:sldMk cId="1861676017" sldId="264"/>
            <ac:spMk id="6" creationId="{00000000-0000-0000-0000-000000000000}"/>
          </ac:spMkLst>
        </pc:spChg>
        <pc:spChg chg="mod">
          <ac:chgData name="Sérgio Patrão" userId="b5086df8-2eb0-4ab6-9222-fdf11b729b89" providerId="ADAL" clId="{1865BBE7-37F7-43C6-AD49-28213EF8CA13}" dt="2026-10-29T17:46:32.640" v="22"/>
          <ac:spMkLst>
            <pc:docMk/>
            <pc:sldMk cId="1861676017" sldId="264"/>
            <ac:spMk id="7" creationId="{00000000-0000-0000-0000-000000000000}"/>
          </ac:spMkLst>
        </pc:spChg>
        <pc:spChg chg="mod">
          <ac:chgData name="Sérgio Patrão" userId="b5086df8-2eb0-4ab6-9222-fdf11b729b89" providerId="ADAL" clId="{1865BBE7-37F7-43C6-AD49-28213EF8CA13}" dt="2026-10-29T17:46:32.641" v="23"/>
          <ac:spMkLst>
            <pc:docMk/>
            <pc:sldMk cId="1861676017" sldId="264"/>
            <ac:spMk id="8" creationId="{00000000-0000-0000-0000-000000000000}"/>
          </ac:spMkLst>
        </pc:spChg>
        <pc:spChg chg="mod">
          <ac:chgData name="Sérgio Patrão" userId="b5086df8-2eb0-4ab6-9222-fdf11b729b89" providerId="ADAL" clId="{1865BBE7-37F7-43C6-AD49-28213EF8CA13}" dt="2026-10-29T17:46:32.641" v="24"/>
          <ac:spMkLst>
            <pc:docMk/>
            <pc:sldMk cId="1861676017" sldId="264"/>
            <ac:spMk id="9" creationId="{00000000-0000-0000-0000-000000000000}"/>
          </ac:spMkLst>
        </pc:spChg>
        <pc:spChg chg="mod">
          <ac:chgData name="Sérgio Patrão" userId="b5086df8-2eb0-4ab6-9222-fdf11b729b89" providerId="ADAL" clId="{1865BBE7-37F7-43C6-AD49-28213EF8CA13}" dt="2026-10-29T17:46:32.641" v="25"/>
          <ac:spMkLst>
            <pc:docMk/>
            <pc:sldMk cId="1861676017" sldId="264"/>
            <ac:spMk id="10" creationId="{00000000-0000-0000-0000-000000000000}"/>
          </ac:spMkLst>
        </pc:spChg>
        <pc:spChg chg="mod">
          <ac:chgData name="Sérgio Patrão" userId="b5086df8-2eb0-4ab6-9222-fdf11b729b89" providerId="ADAL" clId="{1865BBE7-37F7-43C6-AD49-28213EF8CA13}" dt="2026-10-29T17:50:41.096" v="133" actId="404"/>
          <ac:spMkLst>
            <pc:docMk/>
            <pc:sldMk cId="1861676017" sldId="264"/>
            <ac:spMk id="11" creationId="{00000000-0000-0000-0000-000000000000}"/>
          </ac:spMkLst>
        </pc:spChg>
        <pc:spChg chg="mod">
          <ac:chgData name="Sérgio Patrão" userId="b5086df8-2eb0-4ab6-9222-fdf11b729b89" providerId="ADAL" clId="{1865BBE7-37F7-43C6-AD49-28213EF8CA13}" dt="2026-10-29T17:46:32.642" v="27"/>
          <ac:spMkLst>
            <pc:docMk/>
            <pc:sldMk cId="1861676017" sldId="264"/>
            <ac:spMk id="12" creationId="{00000000-0000-0000-0000-000000000000}"/>
          </ac:spMkLst>
        </pc:spChg>
        <pc:spChg chg="mod">
          <ac:chgData name="Sérgio Patrão" userId="b5086df8-2eb0-4ab6-9222-fdf11b729b89" providerId="ADAL" clId="{1865BBE7-37F7-43C6-AD49-28213EF8CA13}" dt="2026-10-29T17:46:32.642" v="28"/>
          <ac:spMkLst>
            <pc:docMk/>
            <pc:sldMk cId="1861676017" sldId="264"/>
            <ac:spMk id="13" creationId="{00000000-0000-0000-0000-000000000000}"/>
          </ac:spMkLst>
        </pc:spChg>
        <pc:spChg chg="mod">
          <ac:chgData name="Sérgio Patrão" userId="b5086df8-2eb0-4ab6-9222-fdf11b729b89" providerId="ADAL" clId="{1865BBE7-37F7-43C6-AD49-28213EF8CA13}" dt="2026-10-29T17:49:26.681" v="76"/>
          <ac:spMkLst>
            <pc:docMk/>
            <pc:sldMk cId="1861676017" sldId="264"/>
            <ac:spMk id="14" creationId="{00000000-0000-0000-0000-000000000000}"/>
          </ac:spMkLst>
        </pc:spChg>
        <pc:spChg chg="mod">
          <ac:chgData name="Sérgio Patrão" userId="b5086df8-2eb0-4ab6-9222-fdf11b729b89" providerId="ADAL" clId="{1865BBE7-37F7-43C6-AD49-28213EF8CA13}" dt="2026-10-29T17:46:32.642" v="30"/>
          <ac:spMkLst>
            <pc:docMk/>
            <pc:sldMk cId="1861676017" sldId="264"/>
            <ac:spMk id="16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21652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everyone, quick intro to the Humans X AI hackathon.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day at a glance — morning and afternoon flight blocks.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Describe the three layers teams will build across.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reference SFD and walk through how the three components talk to each other.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Optional stretch goals for teams who finish early.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Optional stretch goals for teams who finish early.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through what's up for grabs.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and send teams off to start building.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confluence.critical.pt/spaces/~jpsimoes/pages/416582202/pi+cockpit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svg"/><Relationship Id="rId5" Type="http://schemas.openxmlformats.org/officeDocument/2006/relationships/hyperlink" Target="https://bitbucket.critical.pt/projects/AIACCELERATION/repos/criticalpiharness_gui/browse" TargetMode="External"/><Relationship Id="rId4" Type="http://schemas.openxmlformats.org/officeDocument/2006/relationships/hyperlink" Target="https://litellm.critical.pt/ui/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7" Type="http://schemas.openxmlformats.org/officeDocument/2006/relationships/image" Target="../media/image9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DC1A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9055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3" name="Text 1"/>
          <p:cNvSpPr/>
          <p:nvPr/>
        </p:nvSpPr>
        <p:spPr>
          <a:xfrm>
            <a:off x="685800" y="838200"/>
            <a:ext cx="35818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00" b="1" kern="0" spc="210" dirty="0">
                <a:solidFill>
                  <a:srgbClr val="DC1A32">
                    <a:alpha val="55000"/>
                  </a:srgbClr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//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24930" y="863600"/>
            <a:ext cx="290439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00" b="1" kern="0" spc="210" dirty="0">
                <a:solidFill>
                  <a:srgbClr val="DC1A32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AERO HACKATHON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85800" y="1390650"/>
            <a:ext cx="7397306" cy="1000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5237"/>
              </a:lnSpc>
              <a:buNone/>
            </a:pPr>
            <a:r>
              <a:rPr lang="en-US" sz="3975" b="1" kern="0" spc="-79" dirty="0">
                <a:solidFill>
                  <a:srgbClr val="1416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Hackathon Take-Off: </a:t>
            </a:r>
          </a:p>
          <a:p>
            <a:pPr marL="0" indent="0" algn="l">
              <a:lnSpc>
                <a:spcPct val="85237"/>
              </a:lnSpc>
              <a:buNone/>
            </a:pPr>
            <a:r>
              <a:rPr lang="en-US" sz="3975" b="1" kern="0" spc="-79" dirty="0">
                <a:solidFill>
                  <a:srgbClr val="1416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Humans X AI</a:t>
            </a:r>
            <a:endParaRPr lang="en-US" sz="3975" dirty="0"/>
          </a:p>
        </p:txBody>
      </p:sp>
      <p:sp>
        <p:nvSpPr>
          <p:cNvPr id="6" name="Text 4"/>
          <p:cNvSpPr/>
          <p:nvPr/>
        </p:nvSpPr>
        <p:spPr>
          <a:xfrm>
            <a:off x="685800" y="2562225"/>
            <a:ext cx="4316730" cy="10795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582"/>
              </a:lnSpc>
              <a:buNone/>
            </a:pPr>
            <a:r>
              <a:rPr lang="en-US" sz="2025" dirty="0">
                <a:solidFill>
                  <a:srgbClr val="656C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one-day hackathon: build a simplified avionics system</a:t>
            </a:r>
            <a:r>
              <a:rPr lang="en-US" sz="2025">
                <a:solidFill>
                  <a:srgbClr val="656C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 </a:t>
            </a:r>
          </a:p>
          <a:p>
            <a:pPr marL="0" indent="0" algn="l">
              <a:lnSpc>
                <a:spcPct val="111582"/>
              </a:lnSpc>
              <a:buNone/>
            </a:pPr>
            <a:r>
              <a:rPr lang="en-US" sz="2025">
                <a:solidFill>
                  <a:srgbClr val="656C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Humans </a:t>
            </a:r>
            <a:r>
              <a:rPr lang="en-US" sz="2025" dirty="0">
                <a:solidFill>
                  <a:srgbClr val="656C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powered with AI.</a:t>
            </a:r>
            <a:endParaRPr lang="en-US" sz="2025" dirty="0"/>
          </a:p>
        </p:txBody>
      </p:sp>
      <p:sp>
        <p:nvSpPr>
          <p:cNvPr id="7" name="Text 5"/>
          <p:cNvSpPr/>
          <p:nvPr/>
        </p:nvSpPr>
        <p:spPr>
          <a:xfrm>
            <a:off x="685800" y="5222875"/>
            <a:ext cx="498729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727"/>
              </a:lnSpc>
              <a:buNone/>
            </a:pPr>
            <a:r>
              <a:rPr lang="en-US" sz="1350" kern="0" spc="108" dirty="0">
                <a:solidFill>
                  <a:srgbClr val="8A909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ASD · Skyline &amp; Borg</a:t>
            </a:r>
            <a:endParaRPr lang="en-US" sz="135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5800" y="5746750"/>
            <a:ext cx="1676400" cy="209550"/>
          </a:xfrm>
          <a:prstGeom prst="rect">
            <a:avLst/>
          </a:prstGeom>
        </p:spPr>
      </p:pic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3250" y="5403850"/>
            <a:ext cx="819150" cy="8191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8200" y="619125"/>
            <a:ext cx="35818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00" b="1" kern="0" spc="210" dirty="0">
                <a:solidFill>
                  <a:srgbClr val="DC1A32">
                    <a:alpha val="55000"/>
                  </a:srgbClr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//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177330" y="644525"/>
            <a:ext cx="106312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00" b="1" kern="0" spc="210" dirty="0">
                <a:solidFill>
                  <a:srgbClr val="DC1A32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KICKOFF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38200" y="1019175"/>
            <a:ext cx="11567160" cy="566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6733"/>
              </a:lnSpc>
              <a:buNone/>
            </a:pPr>
            <a:r>
              <a:rPr lang="en-US" sz="3525" b="1" kern="0" spc="-70" dirty="0">
                <a:solidFill>
                  <a:srgbClr val="14161A"/>
                </a:solidFill>
                <a:latin typeface="Aptos Narrow" pitchFamily="34" charset="0"/>
                <a:ea typeface="Aptos Narrow" pitchFamily="34" charset="-122"/>
                <a:cs typeface="Aptos Narrow" pitchFamily="34" charset="-120"/>
              </a:rPr>
              <a:t>Agenda</a:t>
            </a:r>
            <a:endParaRPr lang="en-US" sz="3525" dirty="0"/>
          </a:p>
        </p:txBody>
      </p:sp>
      <p:sp>
        <p:nvSpPr>
          <p:cNvPr id="5" name="Text 3"/>
          <p:cNvSpPr/>
          <p:nvPr/>
        </p:nvSpPr>
        <p:spPr>
          <a:xfrm>
            <a:off x="838200" y="1776016"/>
            <a:ext cx="544830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154"/>
              </a:lnSpc>
              <a:buNone/>
            </a:pPr>
            <a:r>
              <a:rPr lang="en-US" sz="1050" b="1" kern="0" spc="105" dirty="0">
                <a:solidFill>
                  <a:srgbClr val="DC1A32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MORNING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838200" y="2071291"/>
            <a:ext cx="4953000" cy="9525"/>
          </a:xfrm>
          <a:prstGeom prst="rect">
            <a:avLst/>
          </a:prstGeom>
          <a:solidFill>
            <a:srgbClr val="E5E7EC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7" name="Text 5"/>
          <p:cNvSpPr/>
          <p:nvPr/>
        </p:nvSpPr>
        <p:spPr>
          <a:xfrm>
            <a:off x="838200" y="2210991"/>
            <a:ext cx="956469" cy="2381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121154"/>
              </a:lnSpc>
              <a:buNone/>
            </a:pPr>
            <a:r>
              <a:rPr lang="en-US" sz="1050" b="1" dirty="0">
                <a:solidFill>
                  <a:srgbClr val="DC1A32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09:00–09:30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49676" y="2172891"/>
            <a:ext cx="124152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2727"/>
              </a:lnSpc>
              <a:buNone/>
            </a:pPr>
            <a:r>
              <a:rPr lang="en-US" sz="1350" b="1" dirty="0">
                <a:solidFill>
                  <a:srgbClr val="14161A"/>
                </a:solidFill>
                <a:latin typeface="Aptos Narrow" pitchFamily="34" charset="0"/>
                <a:ea typeface="Aptos Narrow" pitchFamily="34" charset="-122"/>
                <a:cs typeface="Aptos Narrow" pitchFamily="34" charset="-120"/>
              </a:rPr>
              <a:t>Arrival: Boarding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38200" y="2458641"/>
            <a:ext cx="5448300" cy="211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50" dirty="0">
                <a:solidFill>
                  <a:srgbClr val="656C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Check-in, merch, find your table.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38200" y="2727226"/>
            <a:ext cx="4953000" cy="9525"/>
          </a:xfrm>
          <a:prstGeom prst="rect">
            <a:avLst/>
          </a:prstGeom>
          <a:solidFill>
            <a:srgbClr val="E5E7EC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1" name="Text 9"/>
          <p:cNvSpPr/>
          <p:nvPr/>
        </p:nvSpPr>
        <p:spPr>
          <a:xfrm>
            <a:off x="838200" y="2866926"/>
            <a:ext cx="956469" cy="2381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121154"/>
              </a:lnSpc>
              <a:buNone/>
            </a:pPr>
            <a:r>
              <a:rPr lang="en-US" sz="1050" b="1" dirty="0">
                <a:solidFill>
                  <a:srgbClr val="DC1A32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09:30–09:50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404132" y="2828826"/>
            <a:ext cx="138706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2727"/>
              </a:lnSpc>
              <a:buNone/>
            </a:pPr>
            <a:r>
              <a:rPr lang="en-US" sz="1350" b="1" dirty="0">
                <a:solidFill>
                  <a:srgbClr val="14161A"/>
                </a:solidFill>
                <a:latin typeface="Aptos Narrow" pitchFamily="34" charset="0"/>
                <a:ea typeface="Aptos Narrow" pitchFamily="34" charset="-122"/>
                <a:cs typeface="Aptos Narrow" pitchFamily="34" charset="-120"/>
              </a:rPr>
              <a:t>Pre-Flight Briefing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38200" y="3114576"/>
            <a:ext cx="5448300" cy="211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50" dirty="0">
                <a:solidFill>
                  <a:srgbClr val="656C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Welcome, challenge rules, theme reveal.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38200" y="3383161"/>
            <a:ext cx="4953000" cy="9525"/>
          </a:xfrm>
          <a:prstGeom prst="rect">
            <a:avLst/>
          </a:prstGeom>
          <a:solidFill>
            <a:srgbClr val="E5E7EC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5" name="Text 13"/>
          <p:cNvSpPr/>
          <p:nvPr/>
        </p:nvSpPr>
        <p:spPr>
          <a:xfrm>
            <a:off x="838200" y="3522861"/>
            <a:ext cx="956469" cy="2381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121154"/>
              </a:lnSpc>
              <a:buNone/>
            </a:pPr>
            <a:r>
              <a:rPr lang="en-US" sz="1050" b="1" dirty="0">
                <a:solidFill>
                  <a:srgbClr val="DC1A32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09:50–10:00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437965" y="3484761"/>
            <a:ext cx="135323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2727"/>
              </a:lnSpc>
              <a:buNone/>
            </a:pPr>
            <a:r>
              <a:rPr lang="en-US" sz="1350" b="1" dirty="0">
                <a:solidFill>
                  <a:srgbClr val="14161A"/>
                </a:solidFill>
                <a:latin typeface="Aptos Narrow" pitchFamily="34" charset="0"/>
                <a:ea typeface="Aptos Narrow" pitchFamily="34" charset="-122"/>
                <a:cs typeface="Aptos Narrow" pitchFamily="34" charset="-120"/>
              </a:rPr>
              <a:t>Crew Assignment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38200" y="3770511"/>
            <a:ext cx="5448300" cy="211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50" dirty="0">
                <a:solidFill>
                  <a:srgbClr val="656C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Teams pick their approach and assign roles.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38200" y="4039096"/>
            <a:ext cx="4953000" cy="655935"/>
          </a:xfrm>
          <a:prstGeom prst="rect">
            <a:avLst/>
          </a:prstGeom>
          <a:solidFill>
            <a:srgbClr val="DC1A32">
              <a:alpha val="6000"/>
            </a:srgbClr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9" name="Shape 17"/>
          <p:cNvSpPr/>
          <p:nvPr/>
        </p:nvSpPr>
        <p:spPr>
          <a:xfrm>
            <a:off x="838200" y="4039096"/>
            <a:ext cx="4953000" cy="9525"/>
          </a:xfrm>
          <a:prstGeom prst="rect">
            <a:avLst/>
          </a:prstGeom>
          <a:solidFill>
            <a:srgbClr val="E5E7EC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20" name="Shape 18"/>
          <p:cNvSpPr/>
          <p:nvPr/>
        </p:nvSpPr>
        <p:spPr>
          <a:xfrm>
            <a:off x="838200" y="4039096"/>
            <a:ext cx="25400" cy="655935"/>
          </a:xfrm>
          <a:prstGeom prst="rect">
            <a:avLst/>
          </a:prstGeom>
          <a:solidFill>
            <a:srgbClr val="DC1A32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21" name="Text 19"/>
          <p:cNvSpPr/>
          <p:nvPr/>
        </p:nvSpPr>
        <p:spPr>
          <a:xfrm>
            <a:off x="977900" y="4178796"/>
            <a:ext cx="956469" cy="2381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121154"/>
              </a:lnSpc>
              <a:buNone/>
            </a:pPr>
            <a:r>
              <a:rPr lang="en-US" sz="1050" b="1" dirty="0">
                <a:solidFill>
                  <a:srgbClr val="DC1A32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10:00–12:30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289151" y="4140696"/>
            <a:ext cx="250204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2727"/>
              </a:lnSpc>
              <a:buNone/>
            </a:pPr>
            <a:r>
              <a:rPr lang="en-US" sz="1350" b="1" dirty="0">
                <a:solidFill>
                  <a:srgbClr val="14161A"/>
                </a:solidFill>
                <a:latin typeface="Aptos Narrow" pitchFamily="34" charset="0"/>
                <a:ea typeface="Aptos Narrow" pitchFamily="34" charset="-122"/>
                <a:cs typeface="Aptos Narrow" pitchFamily="34" charset="-120"/>
              </a:rPr>
              <a:t>Flight Block 1: Build the Solution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977900" y="4426446"/>
            <a:ext cx="5294630" cy="211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50" dirty="0">
                <a:solidFill>
                  <a:srgbClr val="656C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challenge - moderators circulate for help.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38200" y="5350967"/>
            <a:ext cx="4953000" cy="9525"/>
          </a:xfrm>
          <a:prstGeom prst="rect">
            <a:avLst/>
          </a:prstGeom>
          <a:solidFill>
            <a:srgbClr val="E5E7EC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25" name="Shape 23"/>
          <p:cNvSpPr/>
          <p:nvPr/>
        </p:nvSpPr>
        <p:spPr>
          <a:xfrm>
            <a:off x="838200" y="4695031"/>
            <a:ext cx="4953000" cy="9525"/>
          </a:xfrm>
          <a:prstGeom prst="rect">
            <a:avLst/>
          </a:prstGeom>
          <a:solidFill>
            <a:srgbClr val="E5E7EC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26" name="Text 24"/>
          <p:cNvSpPr/>
          <p:nvPr/>
        </p:nvSpPr>
        <p:spPr>
          <a:xfrm>
            <a:off x="838200" y="4834731"/>
            <a:ext cx="956469" cy="2381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121154"/>
              </a:lnSpc>
              <a:buNone/>
            </a:pPr>
            <a:r>
              <a:rPr lang="en-US" sz="1050" b="1" dirty="0">
                <a:solidFill>
                  <a:srgbClr val="DC1A32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12:30–13:30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483749" y="4796631"/>
            <a:ext cx="230745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2727"/>
              </a:lnSpc>
              <a:buNone/>
            </a:pPr>
            <a:r>
              <a:rPr lang="en-US" sz="1350" b="1" dirty="0">
                <a:solidFill>
                  <a:srgbClr val="14161A"/>
                </a:solidFill>
                <a:latin typeface="Aptos Narrow" pitchFamily="34" charset="0"/>
                <a:ea typeface="Aptos Narrow" pitchFamily="34" charset="-122"/>
                <a:cs typeface="Aptos Narrow" pitchFamily="34" charset="-120"/>
              </a:rPr>
              <a:t>Fuel Stop: Ground Crew Break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838200" y="5082382"/>
            <a:ext cx="5448300" cy="211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50" dirty="0">
                <a:solidFill>
                  <a:srgbClr val="656C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Pizza and drinks - desk or lunch area.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096000" y="1776016"/>
            <a:ext cx="9525" cy="4343400"/>
          </a:xfrm>
          <a:prstGeom prst="rect">
            <a:avLst/>
          </a:prstGeom>
          <a:solidFill>
            <a:srgbClr val="E5E7EC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30" name="Text 28"/>
          <p:cNvSpPr/>
          <p:nvPr/>
        </p:nvSpPr>
        <p:spPr>
          <a:xfrm>
            <a:off x="6407150" y="1776016"/>
            <a:ext cx="544131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154"/>
              </a:lnSpc>
              <a:buNone/>
            </a:pPr>
            <a:r>
              <a:rPr lang="en-US" sz="1050" b="1" kern="0" spc="105" dirty="0">
                <a:solidFill>
                  <a:srgbClr val="DC1A32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AFTERNOON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407150" y="2071291"/>
            <a:ext cx="4946650" cy="655935"/>
          </a:xfrm>
          <a:prstGeom prst="rect">
            <a:avLst/>
          </a:prstGeom>
          <a:solidFill>
            <a:srgbClr val="DC1A32">
              <a:alpha val="6000"/>
            </a:srgbClr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32" name="Shape 30"/>
          <p:cNvSpPr/>
          <p:nvPr/>
        </p:nvSpPr>
        <p:spPr>
          <a:xfrm>
            <a:off x="6407150" y="2071291"/>
            <a:ext cx="4946650" cy="9525"/>
          </a:xfrm>
          <a:prstGeom prst="rect">
            <a:avLst/>
          </a:prstGeom>
          <a:solidFill>
            <a:srgbClr val="E5E7EC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33" name="Shape 31"/>
          <p:cNvSpPr/>
          <p:nvPr/>
        </p:nvSpPr>
        <p:spPr>
          <a:xfrm>
            <a:off x="6407150" y="2071291"/>
            <a:ext cx="25400" cy="655935"/>
          </a:xfrm>
          <a:prstGeom prst="rect">
            <a:avLst/>
          </a:prstGeom>
          <a:solidFill>
            <a:srgbClr val="DC1A32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34" name="Text 32"/>
          <p:cNvSpPr/>
          <p:nvPr/>
        </p:nvSpPr>
        <p:spPr>
          <a:xfrm>
            <a:off x="6546850" y="2210991"/>
            <a:ext cx="956469" cy="2381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121154"/>
              </a:lnSpc>
              <a:buNone/>
            </a:pPr>
            <a:r>
              <a:rPr lang="en-US" sz="1050" b="1" dirty="0">
                <a:solidFill>
                  <a:srgbClr val="DC1A32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13:30–15:30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9317673" y="2172891"/>
            <a:ext cx="203612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2727"/>
              </a:lnSpc>
              <a:buNone/>
            </a:pPr>
            <a:r>
              <a:rPr lang="en-US" sz="1350" b="1" dirty="0">
                <a:solidFill>
                  <a:srgbClr val="14161A"/>
                </a:solidFill>
                <a:latin typeface="Aptos Narrow" pitchFamily="34" charset="0"/>
                <a:ea typeface="Aptos Narrow" pitchFamily="34" charset="-122"/>
                <a:cs typeface="Aptos Narrow" pitchFamily="34" charset="-120"/>
              </a:rPr>
              <a:t>Flight Block 2: Get It Flying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6546850" y="2458641"/>
            <a:ext cx="5287645" cy="211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50" dirty="0">
                <a:solidFill>
                  <a:srgbClr val="656C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challenge continues.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407150" y="2727226"/>
            <a:ext cx="4946650" cy="9525"/>
          </a:xfrm>
          <a:prstGeom prst="rect">
            <a:avLst/>
          </a:prstGeom>
          <a:solidFill>
            <a:srgbClr val="E5E7EC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38" name="Text 36"/>
          <p:cNvSpPr/>
          <p:nvPr/>
        </p:nvSpPr>
        <p:spPr>
          <a:xfrm>
            <a:off x="6407150" y="2866926"/>
            <a:ext cx="956469" cy="2381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121154"/>
              </a:lnSpc>
              <a:buNone/>
            </a:pPr>
            <a:r>
              <a:rPr lang="en-US" sz="1050" b="1" dirty="0">
                <a:solidFill>
                  <a:srgbClr val="DC1A32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15:30–16:00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10217746" y="2828826"/>
            <a:ext cx="113605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2727"/>
              </a:lnSpc>
              <a:buNone/>
            </a:pPr>
            <a:r>
              <a:rPr lang="en-US" sz="1350" b="1" dirty="0">
                <a:solidFill>
                  <a:srgbClr val="14161A"/>
                </a:solidFill>
                <a:latin typeface="Aptos Narrow" pitchFamily="34" charset="0"/>
                <a:ea typeface="Aptos Narrow" pitchFamily="34" charset="-122"/>
                <a:cs typeface="Aptos Narrow" pitchFamily="34" charset="-120"/>
              </a:rPr>
              <a:t>Final Approach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6407150" y="3114576"/>
            <a:ext cx="5441315" cy="211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50" dirty="0">
                <a:solidFill>
                  <a:srgbClr val="656C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Wrap up code, finish docs, submit repo.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407150" y="3383161"/>
            <a:ext cx="4946650" cy="9525"/>
          </a:xfrm>
          <a:prstGeom prst="rect">
            <a:avLst/>
          </a:prstGeom>
          <a:solidFill>
            <a:srgbClr val="E5E7EC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42" name="Text 40"/>
          <p:cNvSpPr/>
          <p:nvPr/>
        </p:nvSpPr>
        <p:spPr>
          <a:xfrm>
            <a:off x="6407150" y="3522861"/>
            <a:ext cx="956469" cy="2381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121154"/>
              </a:lnSpc>
              <a:buNone/>
            </a:pPr>
            <a:r>
              <a:rPr lang="en-US" sz="1050" b="1" dirty="0">
                <a:solidFill>
                  <a:srgbClr val="DC1A32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16:00–16:45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9198600" y="3484761"/>
            <a:ext cx="215520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2727"/>
              </a:lnSpc>
              <a:buNone/>
            </a:pPr>
            <a:r>
              <a:rPr lang="en-US" sz="1350" b="1" dirty="0">
                <a:solidFill>
                  <a:srgbClr val="14161A"/>
                </a:solidFill>
                <a:latin typeface="Aptos Narrow" pitchFamily="34" charset="0"/>
                <a:ea typeface="Aptos Narrow" pitchFamily="34" charset="-122"/>
                <a:cs typeface="Aptos Narrow" pitchFamily="34" charset="-120"/>
              </a:rPr>
              <a:t>Show &amp; Tell: Cockpit Demos</a:t>
            </a:r>
            <a:endParaRPr lang="en-US" sz="1350" dirty="0"/>
          </a:p>
        </p:txBody>
      </p:sp>
      <p:sp>
        <p:nvSpPr>
          <p:cNvPr id="44" name="Text 42"/>
          <p:cNvSpPr/>
          <p:nvPr/>
        </p:nvSpPr>
        <p:spPr>
          <a:xfrm>
            <a:off x="6407150" y="3770511"/>
            <a:ext cx="5441315" cy="211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50" dirty="0">
                <a:solidFill>
                  <a:srgbClr val="656C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Lightning demos from selected teams.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6407150" y="4039096"/>
            <a:ext cx="4946650" cy="9525"/>
          </a:xfrm>
          <a:prstGeom prst="rect">
            <a:avLst/>
          </a:prstGeom>
          <a:solidFill>
            <a:srgbClr val="E5E7EC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46" name="Text 44"/>
          <p:cNvSpPr/>
          <p:nvPr/>
        </p:nvSpPr>
        <p:spPr>
          <a:xfrm>
            <a:off x="6407150" y="4178796"/>
            <a:ext cx="956469" cy="2381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121154"/>
              </a:lnSpc>
              <a:buNone/>
            </a:pPr>
            <a:r>
              <a:rPr lang="en-US" sz="1050" b="1" dirty="0">
                <a:solidFill>
                  <a:srgbClr val="DC1A32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16:45–17:15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10031234" y="4140696"/>
            <a:ext cx="132256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2727"/>
              </a:lnSpc>
              <a:buNone/>
            </a:pPr>
            <a:r>
              <a:rPr lang="en-US" sz="1350" b="1" dirty="0">
                <a:solidFill>
                  <a:srgbClr val="14161A"/>
                </a:solidFill>
                <a:latin typeface="Aptos Narrow" pitchFamily="34" charset="0"/>
                <a:ea typeface="Aptos Narrow" pitchFamily="34" charset="-122"/>
                <a:cs typeface="Aptos Narrow" pitchFamily="34" charset="-120"/>
              </a:rPr>
              <a:t>Top Gun Trophies</a:t>
            </a:r>
            <a:endParaRPr lang="en-US" sz="1350" dirty="0"/>
          </a:p>
        </p:txBody>
      </p:sp>
      <p:sp>
        <p:nvSpPr>
          <p:cNvPr id="48" name="Text 46"/>
          <p:cNvSpPr/>
          <p:nvPr/>
        </p:nvSpPr>
        <p:spPr>
          <a:xfrm>
            <a:off x="6407150" y="4426446"/>
            <a:ext cx="5441315" cy="211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50" dirty="0">
                <a:solidFill>
                  <a:srgbClr val="656C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Moderators announce the prizes.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6407150" y="5350967"/>
            <a:ext cx="4946650" cy="9525"/>
          </a:xfrm>
          <a:prstGeom prst="rect">
            <a:avLst/>
          </a:prstGeom>
          <a:solidFill>
            <a:srgbClr val="E5E7EC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50" name="Shape 48"/>
          <p:cNvSpPr/>
          <p:nvPr/>
        </p:nvSpPr>
        <p:spPr>
          <a:xfrm>
            <a:off x="6407150" y="4695031"/>
            <a:ext cx="4946650" cy="9525"/>
          </a:xfrm>
          <a:prstGeom prst="rect">
            <a:avLst/>
          </a:prstGeom>
          <a:solidFill>
            <a:srgbClr val="E5E7EC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51" name="Text 49"/>
          <p:cNvSpPr/>
          <p:nvPr/>
        </p:nvSpPr>
        <p:spPr>
          <a:xfrm>
            <a:off x="6407150" y="4834731"/>
            <a:ext cx="956469" cy="2381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121154"/>
              </a:lnSpc>
              <a:buNone/>
            </a:pPr>
            <a:r>
              <a:rPr lang="en-US" sz="1050" b="1" dirty="0">
                <a:solidFill>
                  <a:srgbClr val="DC1A32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17:15–17:30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9213771" y="4796631"/>
            <a:ext cx="214002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2727"/>
              </a:lnSpc>
              <a:buNone/>
            </a:pPr>
            <a:r>
              <a:rPr lang="en-US" sz="1350" b="1" dirty="0">
                <a:solidFill>
                  <a:srgbClr val="14161A"/>
                </a:solidFill>
                <a:latin typeface="Aptos Narrow" pitchFamily="34" charset="0"/>
                <a:ea typeface="Aptos Narrow" pitchFamily="34" charset="-122"/>
                <a:cs typeface="Aptos Narrow" pitchFamily="34" charset="-120"/>
              </a:rPr>
              <a:t>The End: Closing the Airport</a:t>
            </a:r>
            <a:endParaRPr lang="en-US" sz="1350" dirty="0"/>
          </a:p>
        </p:txBody>
      </p:sp>
      <p:sp>
        <p:nvSpPr>
          <p:cNvPr id="53" name="Text 51"/>
          <p:cNvSpPr/>
          <p:nvPr/>
        </p:nvSpPr>
        <p:spPr>
          <a:xfrm>
            <a:off x="6407150" y="5082382"/>
            <a:ext cx="5441315" cy="211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50" dirty="0">
                <a:solidFill>
                  <a:srgbClr val="656C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Closing remarks, group photo, engines off.</a:t>
            </a:r>
            <a:endParaRPr lang="en-US" sz="1050" dirty="0"/>
          </a:p>
        </p:txBody>
      </p:sp>
      <p:pic>
        <p:nvPicPr>
          <p:cNvPr id="5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77400" y="6203950"/>
            <a:ext cx="1676400" cy="2095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8200" y="619125"/>
            <a:ext cx="35818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00" b="1" kern="0" spc="210" dirty="0">
                <a:solidFill>
                  <a:srgbClr val="DC1A32">
                    <a:alpha val="55000"/>
                  </a:srgbClr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//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177330" y="644525"/>
            <a:ext cx="190906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00" b="1" kern="0" spc="210" dirty="0">
                <a:solidFill>
                  <a:srgbClr val="DC1A32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THE CHALLENGE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38200" y="1019175"/>
            <a:ext cx="9429750" cy="566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6733"/>
              </a:lnSpc>
              <a:buNone/>
            </a:pPr>
            <a:r>
              <a:rPr lang="en-US" sz="3525" b="1" kern="0" spc="-70" dirty="0">
                <a:solidFill>
                  <a:srgbClr val="14161A"/>
                </a:solidFill>
                <a:latin typeface="Aptos Narrow" pitchFamily="34" charset="0"/>
                <a:ea typeface="Aptos Narrow" pitchFamily="34" charset="-122"/>
                <a:cs typeface="Aptos Narrow" pitchFamily="34" charset="-120"/>
              </a:rPr>
              <a:t>Build a simplified avionics system</a:t>
            </a:r>
            <a:endParaRPr lang="en-US" sz="3525" dirty="0"/>
          </a:p>
        </p:txBody>
      </p:sp>
      <p:sp>
        <p:nvSpPr>
          <p:cNvPr id="5" name="Text 3"/>
          <p:cNvSpPr/>
          <p:nvPr/>
        </p:nvSpPr>
        <p:spPr>
          <a:xfrm>
            <a:off x="838200" y="1928416"/>
            <a:ext cx="5344508" cy="26578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875"/>
              </a:lnSpc>
              <a:buNone/>
            </a:pPr>
            <a:r>
              <a:rPr lang="en-US" sz="1950" dirty="0">
                <a:solidFill>
                  <a:srgbClr val="656C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Scaled down to fit a one-day hackathon, but built the way real certification-grade systems are, end to end.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6636643" y="1928416"/>
            <a:ext cx="4717157" cy="9525"/>
          </a:xfrm>
          <a:prstGeom prst="rect">
            <a:avLst/>
          </a:prstGeom>
          <a:solidFill>
            <a:srgbClr val="E5E7EC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7" name="Text 5"/>
          <p:cNvSpPr/>
          <p:nvPr/>
        </p:nvSpPr>
        <p:spPr>
          <a:xfrm>
            <a:off x="6636643" y="2087166"/>
            <a:ext cx="400050" cy="5980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DC1A32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112893" y="2087166"/>
            <a:ext cx="4368134" cy="5980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77"/>
              </a:lnSpc>
              <a:buNone/>
            </a:pPr>
            <a:r>
              <a:rPr lang="en-US" sz="1575" b="1" dirty="0">
                <a:solidFill>
                  <a:srgbClr val="1416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Backend:</a:t>
            </a:r>
            <a:r>
              <a:rPr lang="en-US" sz="1575" dirty="0">
                <a:solidFill>
                  <a:srgbClr val="2C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core flight-data logic and communication between components.</a:t>
            </a:r>
            <a:endParaRPr lang="en-US" sz="1575" dirty="0"/>
          </a:p>
        </p:txBody>
      </p:sp>
      <p:sp>
        <p:nvSpPr>
          <p:cNvPr id="9" name="Shape 7"/>
          <p:cNvSpPr/>
          <p:nvPr/>
        </p:nvSpPr>
        <p:spPr>
          <a:xfrm>
            <a:off x="6636643" y="2799556"/>
            <a:ext cx="4717157" cy="9525"/>
          </a:xfrm>
          <a:prstGeom prst="rect">
            <a:avLst/>
          </a:prstGeom>
          <a:solidFill>
            <a:srgbClr val="E5E7EC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0" name="Text 8"/>
          <p:cNvSpPr/>
          <p:nvPr/>
        </p:nvSpPr>
        <p:spPr>
          <a:xfrm>
            <a:off x="6636643" y="2958306"/>
            <a:ext cx="400050" cy="5980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DC1A32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112893" y="2958306"/>
            <a:ext cx="4368134" cy="5980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77"/>
              </a:lnSpc>
              <a:buNone/>
            </a:pPr>
            <a:r>
              <a:rPr lang="en-US" sz="1575" b="1" dirty="0">
                <a:solidFill>
                  <a:srgbClr val="1416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Frontend:</a:t>
            </a:r>
            <a:r>
              <a:rPr lang="en-US" sz="1575" dirty="0">
                <a:solidFill>
                  <a:srgbClr val="2C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a cockpit-style display presenting live flight data.</a:t>
            </a:r>
            <a:endParaRPr lang="en-US" sz="1575" dirty="0"/>
          </a:p>
        </p:txBody>
      </p:sp>
      <p:sp>
        <p:nvSpPr>
          <p:cNvPr id="12" name="Shape 10"/>
          <p:cNvSpPr/>
          <p:nvPr/>
        </p:nvSpPr>
        <p:spPr>
          <a:xfrm>
            <a:off x="6636643" y="4541837"/>
            <a:ext cx="4717157" cy="9525"/>
          </a:xfrm>
          <a:prstGeom prst="rect">
            <a:avLst/>
          </a:prstGeom>
          <a:solidFill>
            <a:srgbClr val="E5E7EC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3" name="Shape 11"/>
          <p:cNvSpPr/>
          <p:nvPr/>
        </p:nvSpPr>
        <p:spPr>
          <a:xfrm>
            <a:off x="6636643" y="3670697"/>
            <a:ext cx="4717157" cy="9525"/>
          </a:xfrm>
          <a:prstGeom prst="rect">
            <a:avLst/>
          </a:prstGeom>
          <a:solidFill>
            <a:srgbClr val="E5E7EC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4" name="Text 12"/>
          <p:cNvSpPr/>
          <p:nvPr/>
        </p:nvSpPr>
        <p:spPr>
          <a:xfrm>
            <a:off x="6636643" y="3829447"/>
            <a:ext cx="400050" cy="5980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DC1A32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112893" y="3829447"/>
            <a:ext cx="4368134" cy="5980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77"/>
              </a:lnSpc>
              <a:buNone/>
            </a:pPr>
            <a:r>
              <a:rPr lang="en-US" sz="1575" b="1" dirty="0">
                <a:solidFill>
                  <a:srgbClr val="1416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Embedded:</a:t>
            </a:r>
            <a:r>
              <a:rPr lang="en-US" sz="1575" dirty="0">
                <a:solidFill>
                  <a:srgbClr val="2C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firmware running on real or simulated hardware, acquiring sensors data.</a:t>
            </a:r>
            <a:endParaRPr lang="en-US" sz="1575" dirty="0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77400" y="6203950"/>
            <a:ext cx="1676400" cy="2095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8200" y="619125"/>
            <a:ext cx="35818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00" b="1" kern="0" spc="210" dirty="0">
                <a:solidFill>
                  <a:srgbClr val="DC1A32">
                    <a:alpha val="55000"/>
                  </a:srgbClr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//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177330" y="644525"/>
            <a:ext cx="348526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00" b="1" kern="0" spc="210" dirty="0">
                <a:solidFill>
                  <a:srgbClr val="DC1A32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REFERENCE IMPLEMENTATION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38200" y="1019175"/>
            <a:ext cx="11567160" cy="566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6733"/>
              </a:lnSpc>
              <a:buNone/>
            </a:pPr>
            <a:r>
              <a:rPr lang="en-US" sz="3525" b="1" kern="0" spc="-70" dirty="0">
                <a:solidFill>
                  <a:srgbClr val="14161A"/>
                </a:solidFill>
                <a:latin typeface="Aptos Narrow" pitchFamily="34" charset="0"/>
                <a:ea typeface="Aptos Narrow" pitchFamily="34" charset="-122"/>
                <a:cs typeface="Aptos Narrow" pitchFamily="34" charset="-120"/>
              </a:rPr>
              <a:t>What a working solution looks like</a:t>
            </a:r>
            <a:endParaRPr lang="en-US" sz="3525" dirty="0"/>
          </a:p>
        </p:txBody>
      </p:sp>
      <p:sp>
        <p:nvSpPr>
          <p:cNvPr id="5" name="Shape 3"/>
          <p:cNvSpPr/>
          <p:nvPr/>
        </p:nvSpPr>
        <p:spPr>
          <a:xfrm>
            <a:off x="838200" y="1776016"/>
            <a:ext cx="4781550" cy="3105150"/>
          </a:xfrm>
          <a:prstGeom prst="roundRect">
            <a:avLst>
              <a:gd name="adj" fmla="val 3681"/>
            </a:avLst>
          </a:prstGeom>
          <a:solidFill>
            <a:srgbClr val="0C0E11"/>
          </a:solidFill>
          <a:ln w="6350">
            <a:solidFill>
              <a:srgbClr val="D8DBE1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35150" y="1934766"/>
            <a:ext cx="2787650" cy="278765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38200" y="4995466"/>
            <a:ext cx="525970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727"/>
              </a:lnSpc>
              <a:buNone/>
            </a:pPr>
            <a:r>
              <a:rPr lang="en-US" sz="1350" dirty="0">
                <a:solidFill>
                  <a:srgbClr val="8A909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Secondary Flight Display — frontend output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000750" y="1776016"/>
            <a:ext cx="5676900" cy="3105150"/>
          </a:xfrm>
          <a:prstGeom prst="roundRect">
            <a:avLst>
              <a:gd name="adj" fmla="val 3681"/>
            </a:avLst>
          </a:prstGeom>
          <a:solidFill>
            <a:srgbClr val="0C0E11"/>
          </a:solidFill>
          <a:ln w="6350">
            <a:solidFill>
              <a:srgbClr val="D8DBE1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76975" y="1823641"/>
            <a:ext cx="5143500" cy="24765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362601" y="2995216"/>
            <a:ext cx="904677" cy="666651"/>
          </a:xfrm>
          <a:prstGeom prst="roundRect">
            <a:avLst>
              <a:gd name="adj" fmla="val 11430"/>
            </a:avLst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40000"/>
              </a:srgbClr>
            </a:solidFill>
            <a:prstDash val="dash"/>
          </a:ln>
        </p:spPr>
        <p:txBody>
          <a:bodyPr/>
          <a:lstStyle/>
          <a:p>
            <a:endParaRPr lang="pt-PT"/>
          </a:p>
        </p:txBody>
      </p:sp>
      <p:sp>
        <p:nvSpPr>
          <p:cNvPr id="11" name="Text 7"/>
          <p:cNvSpPr/>
          <p:nvPr/>
        </p:nvSpPr>
        <p:spPr>
          <a:xfrm>
            <a:off x="6490593" y="3133229"/>
            <a:ext cx="648593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Aptos Narrow" pitchFamily="34" charset="0"/>
                <a:ea typeface="Aptos Narrow" pitchFamily="34" charset="-122"/>
                <a:cs typeface="Aptos Narrow" pitchFamily="34" charset="-120"/>
              </a:rPr>
              <a:t>Hardware</a:t>
            </a:r>
            <a:endParaRPr lang="en-US" sz="1125" dirty="0"/>
          </a:p>
        </p:txBody>
      </p:sp>
      <p:sp>
        <p:nvSpPr>
          <p:cNvPr id="12" name="Text 8"/>
          <p:cNvSpPr/>
          <p:nvPr/>
        </p:nvSpPr>
        <p:spPr>
          <a:xfrm>
            <a:off x="6396435" y="3366592"/>
            <a:ext cx="83691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23750"/>
              </a:lnSpc>
              <a:buNone/>
            </a:pPr>
            <a:r>
              <a:rPr lang="en-US" sz="825" dirty="0">
                <a:solidFill>
                  <a:srgbClr val="FFFFFF">
                    <a:alpha val="55000"/>
                  </a:srgb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 or simulated</a:t>
            </a:r>
            <a:endParaRPr lang="en-US" sz="825" dirty="0"/>
          </a:p>
        </p:txBody>
      </p:sp>
      <p:sp>
        <p:nvSpPr>
          <p:cNvPr id="13" name="Shape 9"/>
          <p:cNvSpPr/>
          <p:nvPr/>
        </p:nvSpPr>
        <p:spPr>
          <a:xfrm>
            <a:off x="7696299" y="2995216"/>
            <a:ext cx="904677" cy="666651"/>
          </a:xfrm>
          <a:prstGeom prst="roundRect">
            <a:avLst>
              <a:gd name="adj" fmla="val 1143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4" name="Shape 10"/>
          <p:cNvSpPr/>
          <p:nvPr/>
        </p:nvSpPr>
        <p:spPr>
          <a:xfrm>
            <a:off x="7696299" y="2995216"/>
            <a:ext cx="38100" cy="666651"/>
          </a:xfrm>
          <a:prstGeom prst="rect">
            <a:avLst/>
          </a:prstGeom>
          <a:solidFill>
            <a:srgbClr val="EF8F99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5" name="Text 11"/>
          <p:cNvSpPr/>
          <p:nvPr/>
        </p:nvSpPr>
        <p:spPr>
          <a:xfrm>
            <a:off x="7811592" y="3133229"/>
            <a:ext cx="712192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25" b="1" dirty="0">
                <a:solidFill>
                  <a:srgbClr val="14161A"/>
                </a:solidFill>
                <a:latin typeface="Aptos Narrow" pitchFamily="34" charset="0"/>
                <a:ea typeface="Aptos Narrow" pitchFamily="34" charset="-122"/>
                <a:cs typeface="Aptos Narrow" pitchFamily="34" charset="-120"/>
              </a:rPr>
              <a:t>Embedded</a:t>
            </a:r>
            <a:endParaRPr lang="en-US" sz="1125" dirty="0"/>
          </a:p>
        </p:txBody>
      </p:sp>
      <p:sp>
        <p:nvSpPr>
          <p:cNvPr id="16" name="Text 12"/>
          <p:cNvSpPr/>
          <p:nvPr/>
        </p:nvSpPr>
        <p:spPr>
          <a:xfrm>
            <a:off x="7907536" y="3366592"/>
            <a:ext cx="520204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23750"/>
              </a:lnSpc>
              <a:buNone/>
            </a:pPr>
            <a:r>
              <a:rPr lang="en-US" sz="825" dirty="0">
                <a:solidFill>
                  <a:srgbClr val="8A909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tiny-RTOS</a:t>
            </a:r>
            <a:endParaRPr lang="en-US" sz="825" dirty="0"/>
          </a:p>
        </p:txBody>
      </p:sp>
      <p:sp>
        <p:nvSpPr>
          <p:cNvPr id="17" name="Shape 13"/>
          <p:cNvSpPr/>
          <p:nvPr/>
        </p:nvSpPr>
        <p:spPr>
          <a:xfrm>
            <a:off x="9029502" y="2995216"/>
            <a:ext cx="904677" cy="666651"/>
          </a:xfrm>
          <a:prstGeom prst="roundRect">
            <a:avLst>
              <a:gd name="adj" fmla="val 1143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8" name="Shape 14"/>
          <p:cNvSpPr/>
          <p:nvPr/>
        </p:nvSpPr>
        <p:spPr>
          <a:xfrm>
            <a:off x="9029502" y="2995216"/>
            <a:ext cx="38100" cy="666651"/>
          </a:xfrm>
          <a:prstGeom prst="rect">
            <a:avLst/>
          </a:prstGeom>
          <a:solidFill>
            <a:srgbClr val="DC1A32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9" name="Text 15"/>
          <p:cNvSpPr/>
          <p:nvPr/>
        </p:nvSpPr>
        <p:spPr>
          <a:xfrm>
            <a:off x="9207203" y="3133229"/>
            <a:ext cx="587375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25" b="1" dirty="0">
                <a:solidFill>
                  <a:srgbClr val="14161A"/>
                </a:solidFill>
                <a:latin typeface="Aptos Narrow" pitchFamily="34" charset="0"/>
                <a:ea typeface="Aptos Narrow" pitchFamily="34" charset="-122"/>
                <a:cs typeface="Aptos Narrow" pitchFamily="34" charset="-120"/>
              </a:rPr>
              <a:t>Backend</a:t>
            </a:r>
            <a:endParaRPr lang="en-US" sz="1125" dirty="0"/>
          </a:p>
        </p:txBody>
      </p:sp>
      <p:sp>
        <p:nvSpPr>
          <p:cNvPr id="20" name="Text 16"/>
          <p:cNvSpPr/>
          <p:nvPr/>
        </p:nvSpPr>
        <p:spPr>
          <a:xfrm>
            <a:off x="9099947" y="3366592"/>
            <a:ext cx="801787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23750"/>
              </a:lnSpc>
              <a:buNone/>
            </a:pPr>
            <a:r>
              <a:rPr lang="en-US" sz="825" dirty="0">
                <a:solidFill>
                  <a:srgbClr val="8A909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Flight-data logic</a:t>
            </a:r>
            <a:endParaRPr lang="en-US" sz="825" dirty="0"/>
          </a:p>
        </p:txBody>
      </p:sp>
      <p:sp>
        <p:nvSpPr>
          <p:cNvPr id="21" name="Shape 17"/>
          <p:cNvSpPr/>
          <p:nvPr/>
        </p:nvSpPr>
        <p:spPr>
          <a:xfrm>
            <a:off x="10363200" y="2995216"/>
            <a:ext cx="904677" cy="666651"/>
          </a:xfrm>
          <a:prstGeom prst="roundRect">
            <a:avLst>
              <a:gd name="adj" fmla="val 1143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22" name="Shape 18"/>
          <p:cNvSpPr/>
          <p:nvPr/>
        </p:nvSpPr>
        <p:spPr>
          <a:xfrm>
            <a:off x="10363200" y="2995216"/>
            <a:ext cx="38100" cy="666651"/>
          </a:xfrm>
          <a:prstGeom prst="rect">
            <a:avLst/>
          </a:prstGeom>
          <a:solidFill>
            <a:srgbClr val="DC1A32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23" name="Text 19"/>
          <p:cNvSpPr/>
          <p:nvPr/>
        </p:nvSpPr>
        <p:spPr>
          <a:xfrm>
            <a:off x="10530682" y="3054648"/>
            <a:ext cx="607814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25" b="1" dirty="0">
                <a:solidFill>
                  <a:srgbClr val="14161A"/>
                </a:solidFill>
                <a:latin typeface="Aptos Narrow" pitchFamily="34" charset="0"/>
                <a:ea typeface="Aptos Narrow" pitchFamily="34" charset="-122"/>
                <a:cs typeface="Aptos Narrow" pitchFamily="34" charset="-120"/>
              </a:rPr>
              <a:t>Frontend</a:t>
            </a:r>
            <a:endParaRPr lang="en-US" sz="1125" dirty="0"/>
          </a:p>
        </p:txBody>
      </p:sp>
      <p:sp>
        <p:nvSpPr>
          <p:cNvPr id="24" name="Text 20"/>
          <p:cNvSpPr/>
          <p:nvPr/>
        </p:nvSpPr>
        <p:spPr>
          <a:xfrm>
            <a:off x="10420350" y="3288010"/>
            <a:ext cx="828477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23750"/>
              </a:lnSpc>
              <a:buNone/>
            </a:pPr>
            <a:r>
              <a:rPr lang="en-US" sz="825" dirty="0">
                <a:solidFill>
                  <a:srgbClr val="8A909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Reads in real time</a:t>
            </a:r>
            <a:endParaRPr lang="en-US" sz="825" dirty="0"/>
          </a:p>
        </p:txBody>
      </p:sp>
      <p:sp>
        <p:nvSpPr>
          <p:cNvPr id="25" name="Text 21"/>
          <p:cNvSpPr/>
          <p:nvPr/>
        </p:nvSpPr>
        <p:spPr>
          <a:xfrm>
            <a:off x="6000750" y="4995466"/>
            <a:ext cx="624459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727"/>
              </a:lnSpc>
              <a:buNone/>
            </a:pPr>
            <a:r>
              <a:rPr lang="en-US" sz="1350" dirty="0">
                <a:solidFill>
                  <a:srgbClr val="8A909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System components and data flow</a:t>
            </a:r>
            <a:endParaRPr lang="en-US" sz="1350" dirty="0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77400" y="6203950"/>
            <a:ext cx="1676400" cy="2095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8200" y="619125"/>
            <a:ext cx="35818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00" b="1" kern="0" spc="210" dirty="0">
                <a:solidFill>
                  <a:srgbClr val="DC1A32">
                    <a:alpha val="55000"/>
                  </a:srgbClr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//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177330" y="644525"/>
            <a:ext cx="148609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00" b="1" kern="0" spc="210" dirty="0">
                <a:solidFill>
                  <a:srgbClr val="DC1A32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GO FURTHER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38200" y="1019175"/>
            <a:ext cx="9429750" cy="566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6733"/>
              </a:lnSpc>
              <a:buNone/>
            </a:pPr>
            <a:r>
              <a:rPr lang="en-US" sz="3525" b="1" kern="0" spc="-70" dirty="0">
                <a:solidFill>
                  <a:srgbClr val="14161A"/>
                </a:solidFill>
                <a:latin typeface="Aptos Narrow" pitchFamily="34" charset="0"/>
                <a:ea typeface="Aptos Narrow" pitchFamily="34" charset="-122"/>
                <a:cs typeface="Aptos Narrow" pitchFamily="34" charset="-120"/>
              </a:rPr>
              <a:t>Extend it with real hardware</a:t>
            </a:r>
            <a:endParaRPr lang="en-US" sz="3525" dirty="0"/>
          </a:p>
        </p:txBody>
      </p:sp>
      <p:sp>
        <p:nvSpPr>
          <p:cNvPr id="5" name="Text 3"/>
          <p:cNvSpPr/>
          <p:nvPr/>
        </p:nvSpPr>
        <p:spPr>
          <a:xfrm>
            <a:off x="838200" y="1928416"/>
            <a:ext cx="5344508" cy="3249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875"/>
              </a:lnSpc>
              <a:buNone/>
            </a:pPr>
            <a:r>
              <a:rPr lang="en-US" sz="1950" dirty="0">
                <a:solidFill>
                  <a:srgbClr val="656C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Once your core pipeline runs end-to-end, plug in a physical input device for an extra challenge.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6636643" y="1928416"/>
            <a:ext cx="4717157" cy="9525"/>
          </a:xfrm>
          <a:prstGeom prst="rect">
            <a:avLst/>
          </a:prstGeom>
          <a:solidFill>
            <a:srgbClr val="E5E7EC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7" name="Text 5"/>
          <p:cNvSpPr/>
          <p:nvPr/>
        </p:nvSpPr>
        <p:spPr>
          <a:xfrm>
            <a:off x="6636643" y="2087166"/>
            <a:ext cx="400050" cy="5980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DC1A32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112893" y="2087166"/>
            <a:ext cx="4368134" cy="5980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77"/>
              </a:lnSpc>
              <a:buNone/>
            </a:pPr>
            <a:r>
              <a:rPr lang="en-US" sz="1575" b="1" dirty="0">
                <a:solidFill>
                  <a:srgbClr val="1416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STM32:</a:t>
            </a:r>
            <a:r>
              <a:rPr lang="en-US" sz="1575" dirty="0">
                <a:solidFill>
                  <a:srgbClr val="2C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flash your logic onto a real embedded target.</a:t>
            </a:r>
            <a:endParaRPr lang="en-US" sz="1575" dirty="0"/>
          </a:p>
        </p:txBody>
      </p:sp>
      <p:sp>
        <p:nvSpPr>
          <p:cNvPr id="9" name="Shape 7"/>
          <p:cNvSpPr/>
          <p:nvPr/>
        </p:nvSpPr>
        <p:spPr>
          <a:xfrm>
            <a:off x="6636643" y="2799556"/>
            <a:ext cx="4717157" cy="9525"/>
          </a:xfrm>
          <a:prstGeom prst="rect">
            <a:avLst/>
          </a:prstGeom>
          <a:solidFill>
            <a:srgbClr val="E5E7EC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0" name="Text 8"/>
          <p:cNvSpPr/>
          <p:nvPr/>
        </p:nvSpPr>
        <p:spPr>
          <a:xfrm>
            <a:off x="6636643" y="2958306"/>
            <a:ext cx="400050" cy="3180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DC1A32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112893" y="2958306"/>
            <a:ext cx="4483388" cy="3180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77"/>
              </a:lnSpc>
              <a:buNone/>
            </a:pPr>
            <a:r>
              <a:rPr lang="en-US" sz="1575" b="1" dirty="0">
                <a:solidFill>
                  <a:srgbClr val="1416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Gamepad:</a:t>
            </a:r>
            <a:r>
              <a:rPr lang="en-US" sz="1575" dirty="0">
                <a:solidFill>
                  <a:srgbClr val="2C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analog stick input for finer control.</a:t>
            </a:r>
            <a:endParaRPr lang="en-US" sz="1575" dirty="0"/>
          </a:p>
        </p:txBody>
      </p:sp>
      <p:sp>
        <p:nvSpPr>
          <p:cNvPr id="12" name="Shape 10"/>
          <p:cNvSpPr/>
          <p:nvPr/>
        </p:nvSpPr>
        <p:spPr>
          <a:xfrm>
            <a:off x="6636643" y="3390702"/>
            <a:ext cx="4717157" cy="9525"/>
          </a:xfrm>
          <a:prstGeom prst="rect">
            <a:avLst/>
          </a:prstGeom>
          <a:solidFill>
            <a:srgbClr val="E5E7EC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3" name="Text 11"/>
          <p:cNvSpPr/>
          <p:nvPr/>
        </p:nvSpPr>
        <p:spPr>
          <a:xfrm>
            <a:off x="6636643" y="3549452"/>
            <a:ext cx="400050" cy="5980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DC1A32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112893" y="3549452"/>
            <a:ext cx="4368134" cy="5980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13077"/>
              </a:lnSpc>
            </a:pPr>
            <a:r>
              <a:rPr lang="en-US" sz="1575" b="1" dirty="0">
                <a:solidFill>
                  <a:srgbClr val="1416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Mouse &amp; Keyboard:</a:t>
            </a:r>
            <a:r>
              <a:rPr lang="en-US" sz="1575" dirty="0">
                <a:solidFill>
                  <a:srgbClr val="2C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the reliable baseline, always available.</a:t>
            </a:r>
            <a:endParaRPr lang="en-US" sz="1575" dirty="0"/>
          </a:p>
        </p:txBody>
      </p:sp>
      <p:sp>
        <p:nvSpPr>
          <p:cNvPr id="16" name="Shape 14"/>
          <p:cNvSpPr/>
          <p:nvPr/>
        </p:nvSpPr>
        <p:spPr>
          <a:xfrm>
            <a:off x="6636643" y="4261842"/>
            <a:ext cx="4717157" cy="9525"/>
          </a:xfrm>
          <a:prstGeom prst="rect">
            <a:avLst/>
          </a:prstGeom>
          <a:solidFill>
            <a:srgbClr val="E5E7EC"/>
          </a:solidFill>
          <a:ln/>
        </p:spPr>
        <p:txBody>
          <a:bodyPr/>
          <a:lstStyle/>
          <a:p>
            <a:endParaRPr lang="pt-PT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77400" y="6203950"/>
            <a:ext cx="1676400" cy="2095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8200" y="619125"/>
            <a:ext cx="35818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00" b="1" kern="0" spc="210" dirty="0">
                <a:solidFill>
                  <a:srgbClr val="DC1A32">
                    <a:alpha val="55000"/>
                  </a:srgbClr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//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177330" y="644525"/>
            <a:ext cx="148609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00" b="1" kern="0" spc="210" dirty="0">
                <a:solidFill>
                  <a:srgbClr val="DC1A32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AI SETUP</a:t>
            </a:r>
          </a:p>
        </p:txBody>
      </p:sp>
      <p:sp>
        <p:nvSpPr>
          <p:cNvPr id="4" name="Text 2"/>
          <p:cNvSpPr/>
          <p:nvPr/>
        </p:nvSpPr>
        <p:spPr>
          <a:xfrm>
            <a:off x="838199" y="1019175"/>
            <a:ext cx="10372165" cy="566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6733"/>
              </a:lnSpc>
              <a:buNone/>
            </a:pPr>
            <a:r>
              <a:rPr lang="en-US" sz="3525" b="1" kern="0" spc="-70" dirty="0">
                <a:solidFill>
                  <a:srgbClr val="14161A"/>
                </a:solidFill>
                <a:latin typeface="Aptos Narrow" pitchFamily="34" charset="0"/>
                <a:ea typeface="Aptos Narrow" pitchFamily="34" charset="-122"/>
                <a:cs typeface="Aptos Narrow" pitchFamily="34" charset="-120"/>
              </a:rPr>
              <a:t>Get the on-prem AI harness running on your machine</a:t>
            </a:r>
          </a:p>
        </p:txBody>
      </p:sp>
      <p:sp>
        <p:nvSpPr>
          <p:cNvPr id="5" name="Text 3"/>
          <p:cNvSpPr/>
          <p:nvPr/>
        </p:nvSpPr>
        <p:spPr>
          <a:xfrm>
            <a:off x="838200" y="1928416"/>
            <a:ext cx="5344508" cy="3249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875"/>
              </a:lnSpc>
              <a:buNone/>
            </a:pPr>
            <a:r>
              <a:rPr lang="en-US" sz="1950" dirty="0">
                <a:solidFill>
                  <a:srgbClr val="656C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Three steps set up the AI tooling you will use during the hackathon. Do them before you start building.</a:t>
            </a:r>
          </a:p>
          <a:p>
            <a:pPr>
              <a:spcBef>
                <a:spcPts val="1800"/>
              </a:spcBef>
            </a:pPr>
            <a:r>
              <a:rPr lang="en-US" sz="1400" dirty="0">
                <a:solidFill>
                  <a:srgbClr val="656C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More information: </a:t>
            </a:r>
            <a:r>
              <a:rPr lang="pt-PT" sz="1400" dirty="0">
                <a:hlinkClick r:id="rId3"/>
              </a:rPr>
              <a:t>pi cockpit - João Pedro Simões - </a:t>
            </a:r>
            <a:r>
              <a:rPr lang="pt-PT" sz="1400" dirty="0" err="1">
                <a:hlinkClick r:id="rId3"/>
              </a:rPr>
              <a:t>Confluence</a:t>
            </a:r>
            <a:endParaRPr lang="en-US" sz="1400" b="1" dirty="0">
              <a:solidFill>
                <a:srgbClr val="2C313A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636643" y="1930400"/>
            <a:ext cx="4717157" cy="9525"/>
          </a:xfrm>
          <a:prstGeom prst="rect">
            <a:avLst/>
          </a:prstGeom>
          <a:solidFill>
            <a:srgbClr val="E5E7EC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7" name="Text 5"/>
          <p:cNvSpPr/>
          <p:nvPr/>
        </p:nvSpPr>
        <p:spPr>
          <a:xfrm>
            <a:off x="6636643" y="2082800"/>
            <a:ext cx="400050" cy="5980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DC1A32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112893" y="2082800"/>
            <a:ext cx="4368134" cy="711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77"/>
              </a:lnSpc>
              <a:buNone/>
            </a:pPr>
            <a:r>
              <a:rPr lang="en-US" sz="1575" b="1" dirty="0">
                <a:solidFill>
                  <a:srgbClr val="1416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SSH key:</a:t>
            </a:r>
            <a:r>
              <a:rPr lang="en-US" sz="1575" dirty="0">
                <a:solidFill>
                  <a:srgbClr val="2C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configure your Bitbucket SSH key.</a:t>
            </a:r>
          </a:p>
        </p:txBody>
      </p:sp>
      <p:sp>
        <p:nvSpPr>
          <p:cNvPr id="9" name="Shape 7"/>
          <p:cNvSpPr/>
          <p:nvPr/>
        </p:nvSpPr>
        <p:spPr>
          <a:xfrm>
            <a:off x="6636643" y="2641600"/>
            <a:ext cx="4717157" cy="9525"/>
          </a:xfrm>
          <a:prstGeom prst="rect">
            <a:avLst/>
          </a:prstGeom>
          <a:solidFill>
            <a:srgbClr val="E5E7EC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0" name="Text 8"/>
          <p:cNvSpPr/>
          <p:nvPr/>
        </p:nvSpPr>
        <p:spPr>
          <a:xfrm>
            <a:off x="6636643" y="2794000"/>
            <a:ext cx="400050" cy="3180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DC1A32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112893" y="2793999"/>
            <a:ext cx="4483388" cy="847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>
              <a:lnSpc>
                <a:spcPct val="100000"/>
              </a:lnSpc>
            </a:pPr>
            <a:r>
              <a:rPr lang="en-US" sz="1575" b="1" dirty="0">
                <a:solidFill>
                  <a:srgbClr val="1416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LiteLLM key:</a:t>
            </a:r>
            <a:r>
              <a:rPr lang="en-US" sz="1575" dirty="0">
                <a:solidFill>
                  <a:srgbClr val="2C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generate one (login with SSO) at </a:t>
            </a:r>
            <a:r>
              <a:rPr lang="pt-PT" sz="1600" dirty="0" err="1">
                <a:hlinkClick r:id="rId4"/>
              </a:rPr>
              <a:t>LiteLLM</a:t>
            </a:r>
            <a:r>
              <a:rPr lang="pt-PT" sz="1600" dirty="0">
                <a:hlinkClick r:id="rId4"/>
              </a:rPr>
              <a:t> </a:t>
            </a:r>
            <a:r>
              <a:rPr lang="pt-PT" sz="1600" dirty="0" err="1">
                <a:hlinkClick r:id="rId4"/>
              </a:rPr>
              <a:t>Dashboard</a:t>
            </a:r>
            <a:endParaRPr lang="pt-PT" sz="1600" dirty="0"/>
          </a:p>
          <a:p>
            <a:pPr>
              <a:lnSpc>
                <a:spcPct val="100000"/>
              </a:lnSpc>
            </a:pPr>
            <a:r>
              <a:rPr lang="pt-PT" sz="1300" dirty="0">
                <a:solidFill>
                  <a:srgbClr val="DC1A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Team: </a:t>
            </a:r>
            <a:r>
              <a:rPr lang="pt-PT" sz="1300" dirty="0" err="1">
                <a:solidFill>
                  <a:srgbClr val="DC1A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Company</a:t>
            </a:r>
            <a:r>
              <a:rPr lang="pt-PT" sz="1300" dirty="0">
                <a:solidFill>
                  <a:srgbClr val="DC1A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Team</a:t>
            </a:r>
          </a:p>
          <a:p>
            <a:pPr>
              <a:lnSpc>
                <a:spcPct val="100000"/>
              </a:lnSpc>
            </a:pPr>
            <a:r>
              <a:rPr lang="pt-PT" sz="1300" dirty="0" err="1">
                <a:solidFill>
                  <a:srgbClr val="DC1A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</a:t>
            </a:r>
            <a:r>
              <a:rPr lang="pt-PT" sz="1300" dirty="0">
                <a:solidFill>
                  <a:srgbClr val="DC1A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pt-PT" sz="1300" dirty="0" err="1">
                <a:solidFill>
                  <a:srgbClr val="DC1A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Name</a:t>
            </a:r>
            <a:r>
              <a:rPr lang="pt-PT" sz="1300" dirty="0">
                <a:solidFill>
                  <a:srgbClr val="DC1A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: </a:t>
            </a:r>
            <a:r>
              <a:rPr lang="pt-PT" sz="1300" dirty="0" err="1">
                <a:solidFill>
                  <a:srgbClr val="DC1A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whatever</a:t>
            </a:r>
            <a:r>
              <a:rPr lang="pt-PT" sz="1300" dirty="0">
                <a:solidFill>
                  <a:srgbClr val="DC1A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pt-PT" sz="1300" dirty="0" err="1">
                <a:solidFill>
                  <a:srgbClr val="DC1A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</a:t>
            </a:r>
            <a:r>
              <a:rPr lang="pt-PT" sz="1300" dirty="0">
                <a:solidFill>
                  <a:srgbClr val="DC1A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pt-PT" sz="1300" dirty="0" err="1">
                <a:solidFill>
                  <a:srgbClr val="DC1A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want</a:t>
            </a:r>
            <a:endParaRPr lang="en-US" sz="1300" dirty="0">
              <a:solidFill>
                <a:srgbClr val="DC1A32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636643" y="3632200"/>
            <a:ext cx="4717157" cy="9525"/>
          </a:xfrm>
          <a:prstGeom prst="rect">
            <a:avLst/>
          </a:prstGeom>
          <a:solidFill>
            <a:srgbClr val="E5E7EC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3" name="Text 11"/>
          <p:cNvSpPr/>
          <p:nvPr/>
        </p:nvSpPr>
        <p:spPr>
          <a:xfrm>
            <a:off x="6636643" y="3784600"/>
            <a:ext cx="400050" cy="5980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DC1A32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112893" y="3784600"/>
            <a:ext cx="4368134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3077"/>
              </a:lnSpc>
              <a:buNone/>
            </a:pPr>
            <a:r>
              <a:rPr lang="en-US" sz="1575" b="1" dirty="0">
                <a:solidFill>
                  <a:srgbClr val="1416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Clone &amp; run:</a:t>
            </a:r>
            <a:r>
              <a:rPr lang="en-US" sz="1575" dirty="0">
                <a:solidFill>
                  <a:srgbClr val="2C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git clone the repo, then run run.cmd / run.sh:</a:t>
            </a:r>
          </a:p>
          <a:p>
            <a:r>
              <a:rPr lang="pt-PT" sz="1600" dirty="0">
                <a:hlinkClick r:id="rId5" tooltip="https://bitbucket.critical.pt/projects/aiacceleration/repos/criticalpiharness_gui/browse"/>
              </a:rPr>
              <a:t>https://bitbucket.critical.pt/projects/AIACCELERATION/repos/criticalpiharness_gui/browse</a:t>
            </a:r>
            <a:endParaRPr lang="en-US" sz="1575" dirty="0">
              <a:solidFill>
                <a:srgbClr val="DC1A32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636643" y="4902200"/>
            <a:ext cx="4717157" cy="9525"/>
          </a:xfrm>
          <a:prstGeom prst="rect">
            <a:avLst/>
          </a:prstGeom>
          <a:solidFill>
            <a:srgbClr val="E5E7EC"/>
          </a:solidFill>
          <a:ln/>
        </p:spPr>
        <p:txBody>
          <a:bodyPr/>
          <a:lstStyle/>
          <a:p>
            <a:endParaRPr lang="pt-PT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77400" y="6203950"/>
            <a:ext cx="1676400" cy="209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16760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8200" y="619125"/>
            <a:ext cx="35818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00" b="1" kern="0" spc="210" dirty="0">
                <a:solidFill>
                  <a:srgbClr val="DC1A32">
                    <a:alpha val="55000"/>
                  </a:srgbClr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//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177330" y="644525"/>
            <a:ext cx="16270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00" b="1" kern="0" spc="210" dirty="0">
                <a:solidFill>
                  <a:srgbClr val="DC1A32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RECOGNITION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38200" y="1019175"/>
            <a:ext cx="11567160" cy="566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6733"/>
              </a:lnSpc>
              <a:buNone/>
            </a:pPr>
            <a:r>
              <a:rPr lang="en-US" sz="3525" b="1" kern="0" spc="-70" dirty="0">
                <a:solidFill>
                  <a:srgbClr val="14161A"/>
                </a:solidFill>
                <a:latin typeface="Aptos Narrow" pitchFamily="34" charset="0"/>
                <a:ea typeface="Aptos Narrow" pitchFamily="34" charset="-122"/>
                <a:cs typeface="Aptos Narrow" pitchFamily="34" charset="-120"/>
              </a:rPr>
              <a:t>Prizes</a:t>
            </a:r>
            <a:endParaRPr lang="en-US" sz="3525" dirty="0"/>
          </a:p>
        </p:txBody>
      </p:sp>
      <p:sp>
        <p:nvSpPr>
          <p:cNvPr id="5" name="Shape 3"/>
          <p:cNvSpPr/>
          <p:nvPr/>
        </p:nvSpPr>
        <p:spPr>
          <a:xfrm>
            <a:off x="838200" y="1852216"/>
            <a:ext cx="3352800" cy="4000500"/>
          </a:xfrm>
          <a:prstGeom prst="roundRect">
            <a:avLst>
              <a:gd name="adj" fmla="val 3409"/>
            </a:avLst>
          </a:prstGeom>
          <a:ln w="6350">
            <a:solidFill>
              <a:srgbClr val="D8DBE1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6" name="Text 4"/>
          <p:cNvSpPr/>
          <p:nvPr/>
        </p:nvSpPr>
        <p:spPr>
          <a:xfrm>
            <a:off x="1111250" y="2163366"/>
            <a:ext cx="308737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DC1A32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1250" y="2487216"/>
            <a:ext cx="308737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727"/>
              </a:lnSpc>
              <a:buNone/>
            </a:pPr>
            <a:r>
              <a:rPr lang="en-US" sz="1800" b="1" dirty="0">
                <a:solidFill>
                  <a:srgbClr val="14161A"/>
                </a:solidFill>
                <a:latin typeface="Aptos Narrow" pitchFamily="34" charset="0"/>
                <a:ea typeface="Aptos Narrow" pitchFamily="34" charset="-122"/>
                <a:cs typeface="Aptos Narrow" pitchFamily="34" charset="-120"/>
              </a:rPr>
              <a:t>First to Fly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11250" y="2925366"/>
            <a:ext cx="2890901" cy="4913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161"/>
              </a:lnSpc>
              <a:buNone/>
            </a:pPr>
            <a:r>
              <a:rPr lang="en-US" sz="1275" dirty="0">
                <a:solidFill>
                  <a:srgbClr val="2C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 team to get a fully working solution up and running.</a:t>
            </a:r>
            <a:endParaRPr lang="en-US" sz="1275" dirty="0"/>
          </a:p>
        </p:txBody>
      </p:sp>
      <p:sp>
        <p:nvSpPr>
          <p:cNvPr id="9" name="Shape 7"/>
          <p:cNvSpPr/>
          <p:nvPr/>
        </p:nvSpPr>
        <p:spPr>
          <a:xfrm>
            <a:off x="4419600" y="1852216"/>
            <a:ext cx="3352800" cy="4000500"/>
          </a:xfrm>
          <a:prstGeom prst="roundRect">
            <a:avLst>
              <a:gd name="adj" fmla="val 3409"/>
            </a:avLst>
          </a:prstGeom>
          <a:ln w="6350">
            <a:solidFill>
              <a:srgbClr val="D8DBE1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0" name="Text 8"/>
          <p:cNvSpPr/>
          <p:nvPr/>
        </p:nvSpPr>
        <p:spPr>
          <a:xfrm>
            <a:off x="4692650" y="2163366"/>
            <a:ext cx="308737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DC1A32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692650" y="2487216"/>
            <a:ext cx="308737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727"/>
              </a:lnSpc>
              <a:buNone/>
            </a:pPr>
            <a:r>
              <a:rPr lang="en-US" sz="1800" b="1" dirty="0">
                <a:solidFill>
                  <a:srgbClr val="14161A"/>
                </a:solidFill>
                <a:latin typeface="Aptos Narrow" pitchFamily="34" charset="0"/>
                <a:ea typeface="Aptos Narrow" pitchFamily="34" charset="-122"/>
                <a:cs typeface="Aptos Narrow" pitchFamily="34" charset="-120"/>
              </a:rPr>
              <a:t>Extra Mile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692650" y="2925366"/>
            <a:ext cx="2890901" cy="4913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161"/>
              </a:lnSpc>
              <a:buNone/>
            </a:pPr>
            <a:r>
              <a:rPr lang="en-US" sz="1275" dirty="0">
                <a:solidFill>
                  <a:srgbClr val="2C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Built something beyond the brief - nobody asked, you did it anyway.</a:t>
            </a:r>
            <a:endParaRPr lang="en-US" sz="1275" dirty="0"/>
          </a:p>
        </p:txBody>
      </p:sp>
      <p:sp>
        <p:nvSpPr>
          <p:cNvPr id="13" name="Shape 11"/>
          <p:cNvSpPr/>
          <p:nvPr/>
        </p:nvSpPr>
        <p:spPr>
          <a:xfrm>
            <a:off x="8001000" y="1852216"/>
            <a:ext cx="3352800" cy="4000500"/>
          </a:xfrm>
          <a:prstGeom prst="roundRect">
            <a:avLst>
              <a:gd name="adj" fmla="val 3409"/>
            </a:avLst>
          </a:prstGeom>
          <a:ln w="6350">
            <a:solidFill>
              <a:srgbClr val="D8DBE1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4" name="Text 12"/>
          <p:cNvSpPr/>
          <p:nvPr/>
        </p:nvSpPr>
        <p:spPr>
          <a:xfrm>
            <a:off x="8274050" y="2163366"/>
            <a:ext cx="308737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DC1A32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74050" y="2487216"/>
            <a:ext cx="308737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727"/>
              </a:lnSpc>
              <a:buNone/>
            </a:pPr>
            <a:r>
              <a:rPr lang="en-US" sz="1800" b="1" dirty="0">
                <a:solidFill>
                  <a:srgbClr val="14161A"/>
                </a:solidFill>
                <a:latin typeface="Aptos Narrow" pitchFamily="34" charset="0"/>
                <a:ea typeface="Aptos Narrow" pitchFamily="34" charset="-122"/>
                <a:cs typeface="Aptos Narrow" pitchFamily="34" charset="-120"/>
              </a:rPr>
              <a:t>The Hive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274050" y="2925366"/>
            <a:ext cx="2890901" cy="4913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161"/>
              </a:lnSpc>
              <a:buNone/>
            </a:pPr>
            <a:r>
              <a:rPr lang="en-US" sz="1275" dirty="0">
                <a:solidFill>
                  <a:srgbClr val="2C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automated pipeline for integrating changes - features, scaling, and beyond.</a:t>
            </a:r>
            <a:endParaRPr lang="en-US" sz="1275" dirty="0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77400" y="6203950"/>
            <a:ext cx="1676400" cy="20955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80DD6B5-0F58-5090-3920-3300EF933E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6972" y="3667079"/>
            <a:ext cx="1935255" cy="1935255"/>
          </a:xfrm>
          <a:prstGeom prst="rect">
            <a:avLst/>
          </a:prstGeom>
        </p:spPr>
      </p:pic>
      <p:pic>
        <p:nvPicPr>
          <p:cNvPr id="19" name="Picture 18" descr="LEGO Speed Champions - Velocidade Furiosa Nissan Skyline GT-R (R34) - 76917">
            <a:extLst>
              <a:ext uri="{FF2B5EF4-FFF2-40B4-BE49-F238E27FC236}">
                <a16:creationId xmlns:a16="http://schemas.microsoft.com/office/drawing/2014/main" id="{DF02B20B-4C89-B611-2243-02EBFA62605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629524" y="3473847"/>
            <a:ext cx="2932952" cy="2199714"/>
          </a:xfrm>
          <a:prstGeom prst="rect">
            <a:avLst/>
          </a:prstGeom>
        </p:spPr>
      </p:pic>
      <p:pic>
        <p:nvPicPr>
          <p:cNvPr id="21" name="Picture 20" descr="Funko - Figura Movies Star Trek – Borg Queen">
            <a:extLst>
              <a:ext uri="{FF2B5EF4-FFF2-40B4-BE49-F238E27FC236}">
                <a16:creationId xmlns:a16="http://schemas.microsoft.com/office/drawing/2014/main" id="{11185F89-F155-BD7F-6FD1-8662A83B135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33092" y="3787296"/>
            <a:ext cx="1572815" cy="157281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C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5334000" cy="6096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3" name="Text 1"/>
          <p:cNvSpPr/>
          <p:nvPr/>
        </p:nvSpPr>
        <p:spPr>
          <a:xfrm>
            <a:off x="914400" y="990600"/>
            <a:ext cx="469392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1633"/>
              </a:lnSpc>
              <a:buNone/>
            </a:pPr>
            <a:r>
              <a:rPr lang="en-US" sz="6000" b="1" kern="0" spc="-120" dirty="0">
                <a:solidFill>
                  <a:srgbClr val="DC1A32"/>
                </a:solidFill>
                <a:latin typeface="Aptos Narrow" pitchFamily="34" charset="0"/>
                <a:ea typeface="Aptos Narrow" pitchFamily="34" charset="-122"/>
                <a:cs typeface="Aptos Narrow" pitchFamily="34" charset="-120"/>
              </a:rPr>
              <a:t>Good luck.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914400" y="4572000"/>
            <a:ext cx="469392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727"/>
              </a:lnSpc>
              <a:buNone/>
            </a:pPr>
            <a:r>
              <a:rPr lang="en-US" sz="1800" b="1" dirty="0">
                <a:solidFill>
                  <a:srgbClr val="1416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 &amp; prizes at the end of the day.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5010150"/>
            <a:ext cx="469392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154"/>
              </a:lnSpc>
              <a:buNone/>
            </a:pPr>
            <a:r>
              <a:rPr lang="en-US" sz="1575" dirty="0">
                <a:solidFill>
                  <a:srgbClr val="2C3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Questions? Find your table lead.</a:t>
            </a:r>
            <a:endParaRPr lang="en-US" sz="1575" dirty="0"/>
          </a:p>
        </p:txBody>
      </p:sp>
      <p:sp>
        <p:nvSpPr>
          <p:cNvPr id="6" name="Text 4"/>
          <p:cNvSpPr/>
          <p:nvPr/>
        </p:nvSpPr>
        <p:spPr>
          <a:xfrm>
            <a:off x="914400" y="5481638"/>
            <a:ext cx="469392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980"/>
              </a:lnSpc>
              <a:buNone/>
            </a:pPr>
            <a:r>
              <a:rPr lang="en-US" sz="2025" b="1" dirty="0">
                <a:solidFill>
                  <a:srgbClr val="DC1A32"/>
                </a:solidFill>
                <a:latin typeface="Aptos Narrow" pitchFamily="34" charset="0"/>
                <a:ea typeface="Aptos Narrow" pitchFamily="34" charset="-122"/>
                <a:cs typeface="Aptos Narrow" pitchFamily="34" charset="-120"/>
              </a:rPr>
              <a:t>Build something safety-critical, fast.</a:t>
            </a:r>
            <a:endParaRPr lang="en-US" sz="2025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44200" y="5422900"/>
            <a:ext cx="762000" cy="762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3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63AFC656-952C-42FD-8027-53E507D64A48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31e6bb54-df42-4a8b-beae-a6adab258d28&quot;"/>
  </we:properties>
  <we:bindings/>
  <we:snapshot xmlns:r="http://schemas.openxmlformats.org/officeDocument/2006/relationships"/>
</we:webextension>
</file>

<file path=docMetadata/LabelInfo.xml><?xml version="1.0" encoding="utf-8"?>
<clbl:labelList xmlns:clbl="http://schemas.microsoft.com/office/2020/mipLabelMetadata">
  <clbl:label id="{c38a7698-8e68-42a1-be26-3c613a1a68a9}" enabled="1" method="Standard" siteId="{d8534ede-19b2-425f-81f7-49a3b5cbbf08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148</TotalTime>
  <Words>612</Words>
  <Application>Microsoft Office PowerPoint</Application>
  <PresentationFormat>Widescreen</PresentationFormat>
  <Paragraphs>121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Mono</vt:lpstr>
      <vt:lpstr>Aptos Narrow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Sérgio Patrão</cp:lastModifiedBy>
  <cp:revision>2</cp:revision>
  <dcterms:created xsi:type="dcterms:W3CDTF">2026-08-27T15:03:19Z</dcterms:created>
  <dcterms:modified xsi:type="dcterms:W3CDTF">2026-10-29T17:50:49Z</dcterms:modified>
</cp:coreProperties>
</file>