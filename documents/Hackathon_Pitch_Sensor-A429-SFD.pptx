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3572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 Hi. In five minutes: what we built, how we planned it, how it is designed, a live demo, and why it goes beyond the brief.
One sentence: a sensor unit reads the outside world and publishes it on a real ARINC 429 bus; a Secondary Flight Display unit receives it and shows it to the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 The brief asks for three layers: embedded, backend, frontend.
We mapped them onto how real aircraft are integrated: two units, two LRUs. The Sensor Unit - gamepad as the outside world, ARM firmware as the sensor computer - and the SFD Unit - backend plus frontend as one display device.
The only thing they share is an ARINC 429 bus. That choice drives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[0:40–1:15]  We spent the first minutes deciding, not coding. Eleven requirements, each from an explicit answer, are on record in PLAN.md.
We fixed the interfaces first - the A429 word, the shared label table, the pad frame - because that is the cheapest place to be wrong.
And we went capture-first: we recorded the bus once, so the backend and display never waited for the emulator.
Seven milestones, M0 to M6, each closed by a command that proves it - not by "it works on my machine".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[1:15–2:00]  This is the design document in one picture.
Left, the Sensor Unit: the gamepad stands in for the outside world, a host reader acquires it, and bare-metal ARM firmware runs the flight model at 50 Hz and encodes six ARINC 429 labels.
Right, the SFD Unit: the backend decodes, converts to engineering units and judges validity; the frontend renders the display.
The red line - the A429 bus - is the only thing they share. The firmware writes hardware registers and has no idea it runs in QEMU; the display has no idea where the words come from.
The full rationale, ten-plus design decisions and the interface control document are in the documents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[2:00–2:35]  Four decisions make this trustworthy rather than just a demo.
One: decoupling is not a claim, it is a test - the display path runs from a recording with the sensor unit absent.
Two: one source of truth - nothing downstream of the firmware computes or overrides a value; the sliders change how it is shown, never what it is.
Three: validity end to end - corrupted words are rejected, FREEZE sends No-Computed-Data, and if the bus goes silent for 250 ms the SFD says so.
Four: the backend stays deliberately simple and certifiable, and the interface is captured in a DO-178C-structured ICD.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[2:35–3:55]  (switch to the two browser windows, SFD and config side by side)
1. Fly: bank and pull - horizon, heading, altitude and airspeed move. Nothing here is computed in the browser.
2. Slider: narrow pitch to plus-minus 10 degrees - the ladder ends there, readout turns amber beyond it, the value itself is untouched.
3. Press START: every instrument shows NCD - that is the sign/status matrix travelling over the bus.
4. Stop the pad reader: a quarter second later everything goes STALE and the A429 LOSS warning sounds.
5. Stop everything, npm run start:replay: no emulator, no gamepad - and the SFD flies again. That is the decoupling,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[3:55–4:35]  For The Hive: every change is checked automatically.
On sandbox: 64 tests including boundary values per label, plus two harnesses that boot the real firmware in QEMU and push it to every limit - 21 and 41 checks.
On the AI-framework branch we went further: five AI agents, each owning only its part of the repo, rules and skills that a script checks against the code, a run chain for milestones M0 to M9, and CI on every push and pull request - including building and running the firmware in QEMU on Linux.
Humans X AI, as the theme says: humans decided, AI built and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[3:55–4:35]  For The Hive: every change is checked automatically.
On sandbox: 64 tests including boundary values per label, plus two harnesses that boot the real firmware in QEMU and push it to every limit - 21 and 41 checks.
On the AI-framework branch we went further: five AI agents, each owning only its part of the repo, rules and skills that a script checks against the code, a run chain for milestones M0 to M9, and CI on every push and pull request - including building and running the firmware in QEMU on Linux.
Humans X AI, as the theme says: humans decided, AI built and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[4:35–5:00]  For the Extra Mile: real ARM firmware, a bit-exact A429 bus, the physical gamepad stretch goal, a flight model where attitude and altitude always agree, aural alerts, and certification-style documents - a design document and a DO-178C-structured ICD.
Thank you -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07024" y="0"/>
            <a:ext cx="6286500" cy="6858000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pic>
        <p:nvPicPr>
          <p:cNvPr id="3" name="Image 0" descr="C:\Users\hmmarcos\AppData\Local\Temp\deckgen\assets\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0776" y="5413248"/>
            <a:ext cx="786384" cy="7863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868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AERO HACKATHON · SHOW &amp; TELL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13232" y="13258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From sensor to cockpit over a real ARINC 429 bus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13232" y="301752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Sensor Unit and a Secondary Flight Display, built the way certification-grade avionics are built.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713232" y="5257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8A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X AI</a:t>
            </a:r>
            <a:endParaRPr lang="en-US" sz="1200" dirty="0"/>
          </a:p>
        </p:txBody>
      </p:sp>
      <p:pic>
        <p:nvPicPr>
          <p:cNvPr id="8" name="Image 1" descr="C:\Users\hmmarcos\AppData\Local\Temp\deckgen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760720"/>
            <a:ext cx="1618488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0" y="21945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200" b="1" kern="0" spc="2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SENSOR UNIT</a:t>
            </a:r>
            <a:endParaRPr lang="en-US" sz="22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2200" b="1" kern="0" spc="2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═══ ARINC 429 ═══▶</a:t>
            </a:r>
            <a:endParaRPr lang="en-US" sz="22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2200" b="1" kern="0" spc="2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SFD UNIT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 CHALLENGE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Three layers asked. Two avionics units delivered.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86868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brief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28600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395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2359152"/>
            <a:ext cx="44348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Embedded:</a:t>
            </a: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firmware on real or simulated hardware, acquiring sensor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315468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644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3227832"/>
            <a:ext cx="44348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Backend:</a:t>
            </a: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flight-data logic and communication between components.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" y="402336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4096512"/>
            <a:ext cx="44348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Frontend:</a:t>
            </a: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 cockpit-style display presenting live flight data.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" y="489204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answer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2286000"/>
            <a:ext cx="4937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871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SENSOR UNIT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the world, speaks A429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75120" y="3182112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USB gamepad mimics the external quantities. Bare-metal Cortex-M3 firmware in QEMU acquires them and transmits 6 ARINC 429 labels at 50 Hz.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0" y="4023360"/>
            <a:ext cx="4937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42245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SFD UNIT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44988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Receives, validates, displays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75120" y="4919472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decodes and judges validity; frontend renders the Secondary Flight Display and its configuration page.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5715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Joined only by the A429 bus</a:t>
            </a:r>
            <a:endParaRPr lang="en-US" sz="1100" dirty="0"/>
          </a:p>
        </p:txBody>
      </p:sp>
      <p:pic>
        <p:nvPicPr>
          <p:cNvPr id="25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 PLAN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Interfaces first. Every decision on record.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868680" y="17830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a single line of code, every requirement was answered explicitly and written into PLAN.md: no guessing, no silent assumptions.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063240"/>
            <a:ext cx="44805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1729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3136392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requirements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agreed up front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776472"/>
            <a:ext cx="44805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3849624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A429 labels: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pitch, roll, heading, baro altitude, CAS, vertical speed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4489704"/>
            <a:ext cx="44805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99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4562856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Wire contracts fixed first: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A429 word, label table, pad frame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5202936"/>
            <a:ext cx="44805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12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Capture-first: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backend and SFD built on a recorded bus, never waiting on QEMU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68680" y="5916168"/>
            <a:ext cx="44805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Milestones — each closed by a proof command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21945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6F7F9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221284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194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12280" y="21945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Toolchain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ARM GCC + QEMU verified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5040" y="27432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0" y="276148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2280" y="27432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A429 codec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golden vectors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35040" y="32918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6F7F9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0" y="331012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3291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Firmware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boots in QEMU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38404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35040" y="385876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12280" y="3840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 reader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live axes over TCP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035040" y="43891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6F7F9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440740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43891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decode, convert, freshness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35040" y="49377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35040" y="495604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937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12280" y="49377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Displays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SFD + config page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35040" y="54864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F6F7F9"/>
          </a:solidFill>
          <a:ln w="9525">
            <a:solidFill>
              <a:srgbClr val="E5E7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35040" y="5504688"/>
            <a:ext cx="54864" cy="42062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M6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12280" y="5486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 to end</a:t>
            </a:r>
            <a:r>
              <a:rPr lang="en-US" sz="130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+ decoupled replay</a:t>
            </a:r>
            <a:endParaRPr lang="en-US" sz="1300" dirty="0"/>
          </a:p>
        </p:txBody>
      </p:sp>
      <p:pic>
        <p:nvPicPr>
          <p:cNvPr id="47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ARCHITECTURE · SDD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Two units. One bus. Nothing else shared.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68680" y="1783080"/>
            <a:ext cx="10469880" cy="3246120"/>
          </a:xfrm>
          <a:prstGeom prst="roundRect">
            <a:avLst>
              <a:gd name="adj" fmla="val 2817"/>
            </a:avLst>
          </a:prstGeom>
          <a:solidFill>
            <a:srgbClr val="0D0F12"/>
          </a:solidFill>
          <a:ln w="12700">
            <a:solidFill>
              <a:srgbClr val="0D0F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057400"/>
            <a:ext cx="5074920" cy="2697480"/>
          </a:xfrm>
          <a:prstGeom prst="roundRect">
            <a:avLst>
              <a:gd name="adj" fmla="val 2712"/>
            </a:avLst>
          </a:prstGeom>
          <a:solidFill>
            <a:srgbClr val="1B1E24"/>
          </a:solidFill>
          <a:ln w="12700">
            <a:solidFill>
              <a:srgbClr val="3A3F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21214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SENSOR UNIT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52360" y="205740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1B1E24"/>
          </a:solidFill>
          <a:ln w="12700">
            <a:solidFill>
              <a:srgbClr val="3A3F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SFD UNIT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280160" y="288036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1B1E24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371600" y="28803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Gamepad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3A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3A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06040" y="3364992"/>
            <a:ext cx="45720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423160" y="30723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CDD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63240" y="288036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63240" y="2898648"/>
            <a:ext cx="54864" cy="92354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54680" y="28803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 reader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 acquisition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364992"/>
            <a:ext cx="3657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206240" y="307238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CDD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UART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1280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898648"/>
            <a:ext cx="54864" cy="92354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88036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Firmware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Cortex-M3 · QEMU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flight model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3364992"/>
            <a:ext cx="1280160" cy="0"/>
          </a:xfrm>
          <a:prstGeom prst="line">
            <a:avLst/>
          </a:prstGeom>
          <a:noFill/>
          <a:ln w="44450">
            <a:solidFill>
              <a:srgbClr val="DC1A32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03504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ARINC 429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35040" y="34930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CDD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6 labels · 50 Hz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35240" y="28803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240" y="2898648"/>
            <a:ext cx="54864" cy="92354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26680" y="288036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decode · convert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validity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98280" y="3364992"/>
            <a:ext cx="3657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915400" y="307238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CDD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464040" y="28803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64040" y="2898648"/>
            <a:ext cx="54864" cy="923544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55480" y="288036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SFD + config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80160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3A8B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Replaceable: real sensor, other simulator or a recording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3524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3A8B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Never knows the source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68680" y="5166360"/>
            <a:ext cx="85953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371600" y="5239512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Firmware writes UART registers</a:t>
            </a:r>
            <a:r>
              <a:rPr lang="en-US" sz="12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it does not know QEMU is there: porting to hardware is a wiring change.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68680" y="5641848"/>
            <a:ext cx="85953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7515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371600" y="5715000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A429 bus is the seam</a:t>
            </a:r>
            <a:r>
              <a:rPr lang="en-US" sz="12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the SFD Unit runs unchanged with the Sensor Unit swapped for a recording.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68680" y="6117336"/>
            <a:ext cx="85953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pic>
        <p:nvPicPr>
          <p:cNvPr id="41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DESIGN DECISIONS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Built to be trusted, not just to fly.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68680" y="1965960"/>
            <a:ext cx="2487168" cy="29260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671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4414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Decoupling is tested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2862072"/>
            <a:ext cx="19385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mode runs the whole SFD Unit with no QEMU, no gamepad and no bus port open. A test proves 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9584" y="1965960"/>
            <a:ext cx="2487168" cy="29260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03904" y="21671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03904" y="24414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source of truth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03904" y="2862072"/>
            <a:ext cx="19385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the firmware produces values. Sliders configure the display window; they can never fake a value.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90488" y="1965960"/>
            <a:ext cx="2487168" cy="29260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4808" y="21671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64808" y="24414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Validity end to end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4808" y="2862072"/>
            <a:ext cx="19385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Parity and label checks, NCD on FREEZE, and a 250 ms freshness watchdog that annunciates A429 LOSS.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851392" y="1965960"/>
            <a:ext cx="2487168" cy="29260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5712" y="21671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25712" y="24414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Certification-minded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25712" y="2862072"/>
            <a:ext cx="19385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only decodes, converts and validates. SDD and a DO-178C-structured ICD with traceable requirements.</a:t>
            </a:r>
            <a:endParaRPr lang="en-US" sz="1500" dirty="0"/>
          </a:p>
        </p:txBody>
      </p:sp>
      <p:pic>
        <p:nvPicPr>
          <p:cNvPr id="20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Fly it. Freeze it. Unplug it. Replay it.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38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71600" y="1901952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Fly:</a:t>
            </a:r>
            <a:r>
              <a:rPr lang="en-US" sz="14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stick and throttle move attitude, heading, altitude, CAS — all computed in the firmware.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517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2615184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Slider:</a:t>
            </a:r>
            <a:r>
              <a:rPr lang="en-US" sz="14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narrow the pitch window — the scale ends there, the value does not.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68680" y="3255264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364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3328416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START:</a:t>
            </a:r>
            <a:r>
              <a:rPr lang="en-US" sz="14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every label goes No-Computed-Data — the SFD flags it.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68680" y="3968496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78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4041648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the pad:</a:t>
            </a:r>
            <a:r>
              <a:rPr lang="en-US" sz="14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after 250 ms every parameter is STALE — A429 LOSS warning.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68680" y="4681728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7914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71600" y="4754880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Replay:</a:t>
            </a:r>
            <a:r>
              <a:rPr lang="en-US" sz="14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no QEMU, no gamepad — the SFD flies again from the recorded bus.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68680" y="5394960"/>
            <a:ext cx="649224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0D0F12"/>
          </a:solidFill>
          <a:ln w="12700">
            <a:solidFill>
              <a:srgbClr val="0D0F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20574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A909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mode menu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npm start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A909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decoupled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npm run start:replay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A909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open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:8090/sfd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:8090/config</a:t>
            </a:r>
            <a:endParaRPr lang="en-US" sz="1400" dirty="0"/>
          </a:p>
        </p:txBody>
      </p:sp>
      <p:pic>
        <p:nvPicPr>
          <p:cNvPr id="22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THE HIVE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An automated pipeline for integrating changes.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86868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Verification on every change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19456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304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226771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 automated tests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incl. boundary values for every label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2852928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62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2926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checks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pad frame → firmware → A429 → backend, in QEMU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3511296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621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358444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 checks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every parameter at both limits + ground/takeoff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4169664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424281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A429 vectors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+ decoupled replay tests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68680" y="4828032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framework: merged into main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219456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304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03720" y="226771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AI agents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embedded, backend, frontend, integrator, reviewer — each owns its paths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0" y="2852928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962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2926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+ skills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checked against the code by a script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0" y="3511296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621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03720" y="358444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chain M0–M9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one command per milestone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0" y="4169664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03720" y="424281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 on every push / PR</a:t>
            </a:r>
            <a:r>
              <a:rPr lang="en-US" sz="135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framework, tests, firmware in QEMU on Linux; pre-commit hook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0" y="4828032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8680" y="5120640"/>
            <a:ext cx="10469880" cy="685800"/>
          </a:xfrm>
          <a:prstGeom prst="rect">
            <a:avLst/>
          </a:prstGeom>
          <a:solidFill>
            <a:srgbClr val="FBEDEF"/>
          </a:solidFill>
          <a:ln w="12700">
            <a:solidFill>
              <a:srgbClr val="FBED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8680" y="5120640"/>
            <a:ext cx="73152" cy="685800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97280" y="51206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Humans X AI  </a:t>
            </a:r>
            <a:r>
              <a:rPr lang="en-US" sz="1400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took every decision, on record. AI agents build, check and review — inside the paths they own.</a:t>
            </a:r>
            <a:endParaRPr lang="en-US" sz="1400" dirty="0"/>
          </a:p>
        </p:txBody>
      </p:sp>
      <p:pic>
        <p:nvPicPr>
          <p:cNvPr id="35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AI WORKFLOW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3500" b="1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From a request to a verified commit.</a:t>
            </a:r>
            <a:endParaRPr lang="en-US" sz="3500" dirty="0"/>
          </a:p>
        </p:txBody>
      </p:sp>
      <p:sp>
        <p:nvSpPr>
          <p:cNvPr id="18" name="Text 16"/>
          <p:cNvSpPr/>
          <p:nvPr/>
        </p:nvSpPr>
        <p:spPr>
          <a:xfrm>
            <a:off x="640080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300" b="1">
                <a:solidFill>
                  <a:srgbClr val="656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it, top to bottom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2194560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304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03720" y="2267712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in ai/</a:t>
            </a:r>
            <a:r>
              <a:rPr lang="en-GB" sz="135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agents (who), rules (what), skills (how), owners (where), run chain (when)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0" y="2852928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962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2926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→ integrator</a:t>
            </a:r>
            <a:r>
              <a:rPr lang="en-GB" sz="135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it classifies the task, edits shared contracts, briefs one agent per layer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0" y="3511296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621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03720" y="358444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chain M0–M9</a:t>
            </a:r>
            <a:r>
              <a:rPr lang="en-GB" sz="135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the first failing stage goes to its owner: embedded, backend or frontend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0" y="4169664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03720" y="424281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Reviewer, gates, CI</a:t>
            </a:r>
            <a:r>
              <a:rPr lang="en-GB" sz="135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read-only review, then check-ai + ownership in the pre-commit hook and CI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0" y="4828032"/>
            <a:ext cx="4937760" cy="0"/>
          </a:xfrm>
          <a:prstGeom prst="line">
            <a:avLst/>
          </a:prstGeom>
          <a:noFill/>
          <a:ln w="9525">
            <a:solidFill>
              <a:srgbClr val="E5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5054600"/>
            <a:ext cx="4940300" cy="990600"/>
          </a:xfrm>
          <a:prstGeom prst="rect">
            <a:avLst/>
          </a:prstGeom>
          <a:solidFill>
            <a:srgbClr val="FBEDEF"/>
          </a:solidFill>
          <a:ln w="12700">
            <a:solidFill>
              <a:srgbClr val="FBED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5054600"/>
            <a:ext cx="73152" cy="990600"/>
          </a:xfrm>
          <a:prstGeom prst="rect">
            <a:avLst/>
          </a:prstGeom>
          <a:solidFill>
            <a:srgbClr val="DC1A32"/>
          </a:solidFill>
          <a:ln w="12700">
            <a:solidFill>
              <a:srgbClr val="DC1A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4000" y="5054600"/>
            <a:ext cx="4673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Rule of thumb</a:t>
            </a:r>
            <a:r>
              <a:rPr lang="en-GB" sz="140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One layer → its agent. Several layers or a contract → the integrator. A recorded decision → ask the human.</a:t>
            </a:r>
            <a:endParaRPr lang="en-US" sz="1400" dirty="0"/>
          </a:p>
        </p:txBody>
      </p:sp>
      <p:pic>
        <p:nvPicPr>
          <p:cNvPr id="35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  <p:pic>
        <p:nvPicPr>
          <p:cNvPr id="37" name="AI workflow diagram" descr="AI framework workflow: knowledge in ai/ (agents, rules, skills, ownership, run chain); you hand a task to the integrator; the run chain M0-M9 turns the first failing stage into a task for the embedded, backend or frontend agent; their hand-offs go to the read-only reviewer, then the check-ai and ownership gates, then commit and CI.">
            <a:extLst>
              <a:ext uri="{FF2B5EF4-FFF2-40B4-BE49-F238E27FC236}">
                <a16:creationId xmlns:a16="http://schemas.microsoft.com/office/drawing/2014/main" id="{51DC5B24-276B-B2DF-E64E-D322B75C59E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1778000"/>
            <a:ext cx="5372100" cy="4699000"/>
          </a:xfrm>
          <a:prstGeom prst="rect">
            <a:avLst/>
          </a:prstGeom>
          <a:ln w="9525">
            <a:solidFill>
              <a:srgbClr val="EBE7E5"/>
            </a:solidFill>
          </a:ln>
        </p:spPr>
      </p:pic>
    </p:spTree>
    <p:extLst>
      <p:ext uri="{BB962C8B-B14F-4D97-AF65-F5344CB8AC3E}">
        <p14:creationId xmlns:p14="http://schemas.microsoft.com/office/powerpoint/2010/main" val="678255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10" dirty="0">
                <a:solidFill>
                  <a:srgbClr val="E8737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// </a:t>
            </a:r>
            <a:r>
              <a:rPr lang="en-US" sz="1500" b="1" kern="0" spc="210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EXTRA MILE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6868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4161A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Nobody asked. We did it anyway.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68680" y="178308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984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2585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ARM firmware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67919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Bare-metal Cortex-M3 with its own vector table and linker script — not a script called "firmware".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1980" y="178308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6300" y="1984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86300" y="22585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Bit-exact ARINC 429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86300" y="267919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Bit-reversed labels, BNR, sign in the SSM, odd parity. Corrupt words rejected and counted.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78308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984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2585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Physical gamepad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0" y="267919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stretch goal, read over raw HID with a WinMM fallback.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70332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3904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41788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Coherent flight model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459943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Nose up climbs, bank turns: attitude, V/S and altitude always agree.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11980" y="370332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6300" y="3904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86300" y="41788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Aural alerts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86300" y="459943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A429 LOSS warning; TERRAIN, BANK ANGLE, SINK RATE.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370332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B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3904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1A3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0" y="41788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61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Certification documents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0" y="459943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SDD and a DO-178C-structured ICD with requirement-to-test trace.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868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C1A32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Thank you — questions?</a:t>
            </a:r>
            <a:endParaRPr lang="en-US" sz="2400" dirty="0"/>
          </a:p>
        </p:txBody>
      </p:sp>
      <p:pic>
        <p:nvPicPr>
          <p:cNvPr id="29" name="Image 0" descr="C:\Users\hmmarcos\AppData\Local\Temp\deckgen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6199632"/>
            <a:ext cx="1618488" cy="219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38a7698-8e68-42a1-be26-3c613a1a68a9}" enabled="1" method="Standard" siteId="{d8534ede-19b2-425f-81f7-49a3b5cbbf0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2042</Words>
  <Application>Microsoft Office PowerPoint</Application>
  <PresentationFormat>Widescreen</PresentationFormat>
  <Paragraphs>186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Mono</vt:lpstr>
      <vt:lpstr>Aptos Narrow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 to SFD over ARINC 429 — Hackathon pitch</dc:title>
  <dc:subject>PptxGenJS Presentation</dc:subject>
  <dc:creator>PptxGenJS</dc:creator>
  <cp:lastModifiedBy>Paulo Pereira</cp:lastModifiedBy>
  <cp:revision>2</cp:revision>
  <dcterms:created xsi:type="dcterms:W3CDTF">2026-10-30T15:22:37Z</dcterms:created>
  <dcterms:modified xsi:type="dcterms:W3CDTF">2026-10-30T15:43:14Z</dcterms:modified>
</cp:coreProperties>
</file>